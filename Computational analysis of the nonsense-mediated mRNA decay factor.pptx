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6" r:id="rId2"/>
  </p:sldIdLst>
  <p:sldSz cx="30267275" cy="40355838"/>
  <p:notesSz cx="9144000" cy="6858000"/>
  <p:defaultTextStyle>
    <a:defPPr>
      <a:defRPr lang="en-US"/>
    </a:defPPr>
    <a:lvl1pPr marL="0" algn="l" defTabSz="4174876" rtl="0" eaLnBrk="1" latinLnBrk="0" hangingPunct="1">
      <a:defRPr sz="8218" kern="1200">
        <a:solidFill>
          <a:schemeClr val="tx1"/>
        </a:solidFill>
        <a:latin typeface="+mn-lt"/>
        <a:ea typeface="+mn-ea"/>
        <a:cs typeface="+mn-cs"/>
      </a:defRPr>
    </a:lvl1pPr>
    <a:lvl2pPr marL="2087438" algn="l" defTabSz="4174876" rtl="0" eaLnBrk="1" latinLnBrk="0" hangingPunct="1">
      <a:defRPr sz="8218" kern="1200">
        <a:solidFill>
          <a:schemeClr val="tx1"/>
        </a:solidFill>
        <a:latin typeface="+mn-lt"/>
        <a:ea typeface="+mn-ea"/>
        <a:cs typeface="+mn-cs"/>
      </a:defRPr>
    </a:lvl2pPr>
    <a:lvl3pPr marL="4174876" algn="l" defTabSz="4174876" rtl="0" eaLnBrk="1" latinLnBrk="0" hangingPunct="1">
      <a:defRPr sz="8218" kern="1200">
        <a:solidFill>
          <a:schemeClr val="tx1"/>
        </a:solidFill>
        <a:latin typeface="+mn-lt"/>
        <a:ea typeface="+mn-ea"/>
        <a:cs typeface="+mn-cs"/>
      </a:defRPr>
    </a:lvl3pPr>
    <a:lvl4pPr marL="6262314" algn="l" defTabSz="4174876" rtl="0" eaLnBrk="1" latinLnBrk="0" hangingPunct="1">
      <a:defRPr sz="8218" kern="1200">
        <a:solidFill>
          <a:schemeClr val="tx1"/>
        </a:solidFill>
        <a:latin typeface="+mn-lt"/>
        <a:ea typeface="+mn-ea"/>
        <a:cs typeface="+mn-cs"/>
      </a:defRPr>
    </a:lvl4pPr>
    <a:lvl5pPr marL="8349752" algn="l" defTabSz="4174876" rtl="0" eaLnBrk="1" latinLnBrk="0" hangingPunct="1">
      <a:defRPr sz="8218" kern="1200">
        <a:solidFill>
          <a:schemeClr val="tx1"/>
        </a:solidFill>
        <a:latin typeface="+mn-lt"/>
        <a:ea typeface="+mn-ea"/>
        <a:cs typeface="+mn-cs"/>
      </a:defRPr>
    </a:lvl5pPr>
    <a:lvl6pPr marL="10437190" algn="l" defTabSz="4174876" rtl="0" eaLnBrk="1" latinLnBrk="0" hangingPunct="1">
      <a:defRPr sz="8218" kern="1200">
        <a:solidFill>
          <a:schemeClr val="tx1"/>
        </a:solidFill>
        <a:latin typeface="+mn-lt"/>
        <a:ea typeface="+mn-ea"/>
        <a:cs typeface="+mn-cs"/>
      </a:defRPr>
    </a:lvl6pPr>
    <a:lvl7pPr marL="12524628" algn="l" defTabSz="4174876" rtl="0" eaLnBrk="1" latinLnBrk="0" hangingPunct="1">
      <a:defRPr sz="8218" kern="1200">
        <a:solidFill>
          <a:schemeClr val="tx1"/>
        </a:solidFill>
        <a:latin typeface="+mn-lt"/>
        <a:ea typeface="+mn-ea"/>
        <a:cs typeface="+mn-cs"/>
      </a:defRPr>
    </a:lvl7pPr>
    <a:lvl8pPr marL="14612066" algn="l" defTabSz="4174876" rtl="0" eaLnBrk="1" latinLnBrk="0" hangingPunct="1">
      <a:defRPr sz="8218" kern="1200">
        <a:solidFill>
          <a:schemeClr val="tx1"/>
        </a:solidFill>
        <a:latin typeface="+mn-lt"/>
        <a:ea typeface="+mn-ea"/>
        <a:cs typeface="+mn-cs"/>
      </a:defRPr>
    </a:lvl8pPr>
    <a:lvl9pPr marL="16699504" algn="l" defTabSz="4174876" rtl="0" eaLnBrk="1" latinLnBrk="0" hangingPunct="1">
      <a:defRPr sz="8218"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2711" userDrawn="1">
          <p15:clr>
            <a:srgbClr val="A4A3A4"/>
          </p15:clr>
        </p15:guide>
        <p15:guide id="2" pos="953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p:scale>
          <a:sx n="10" d="100"/>
          <a:sy n="10" d="100"/>
        </p:scale>
        <p:origin x="2346" y="270"/>
      </p:cViewPr>
      <p:guideLst>
        <p:guide orient="horz" pos="12711"/>
        <p:guide pos="9533"/>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70046" y="6604535"/>
            <a:ext cx="25727184" cy="14049810"/>
          </a:xfrm>
        </p:spPr>
        <p:txBody>
          <a:bodyPr anchor="b"/>
          <a:lstStyle>
            <a:lvl1pPr algn="ctr">
              <a:defRPr sz="19861"/>
            </a:lvl1pPr>
          </a:lstStyle>
          <a:p>
            <a:r>
              <a:rPr lang="en-US" smtClean="0"/>
              <a:t>Click to edit Master title style</a:t>
            </a:r>
            <a:endParaRPr lang="en-US" dirty="0"/>
          </a:p>
        </p:txBody>
      </p:sp>
      <p:sp>
        <p:nvSpPr>
          <p:cNvPr id="3" name="Subtitle 2"/>
          <p:cNvSpPr>
            <a:spLocks noGrp="1"/>
          </p:cNvSpPr>
          <p:nvPr>
            <p:ph type="subTitle" idx="1"/>
          </p:nvPr>
        </p:nvSpPr>
        <p:spPr>
          <a:xfrm>
            <a:off x="3783410" y="21196160"/>
            <a:ext cx="22700456" cy="9743316"/>
          </a:xfrm>
        </p:spPr>
        <p:txBody>
          <a:bodyPr/>
          <a:lstStyle>
            <a:lvl1pPr marL="0" indent="0" algn="ctr">
              <a:buNone/>
              <a:defRPr sz="7944"/>
            </a:lvl1pPr>
            <a:lvl2pPr marL="1513378" indent="0" algn="ctr">
              <a:buNone/>
              <a:defRPr sz="6620"/>
            </a:lvl2pPr>
            <a:lvl3pPr marL="3026755" indent="0" algn="ctr">
              <a:buNone/>
              <a:defRPr sz="5958"/>
            </a:lvl3pPr>
            <a:lvl4pPr marL="4540133" indent="0" algn="ctr">
              <a:buNone/>
              <a:defRPr sz="5296"/>
            </a:lvl4pPr>
            <a:lvl5pPr marL="6053511" indent="0" algn="ctr">
              <a:buNone/>
              <a:defRPr sz="5296"/>
            </a:lvl5pPr>
            <a:lvl6pPr marL="7566889" indent="0" algn="ctr">
              <a:buNone/>
              <a:defRPr sz="5296"/>
            </a:lvl6pPr>
            <a:lvl7pPr marL="9080266" indent="0" algn="ctr">
              <a:buNone/>
              <a:defRPr sz="5296"/>
            </a:lvl7pPr>
            <a:lvl8pPr marL="10593644" indent="0" algn="ctr">
              <a:buNone/>
              <a:defRPr sz="5296"/>
            </a:lvl8pPr>
            <a:lvl9pPr marL="12107022" indent="0" algn="ctr">
              <a:buNone/>
              <a:defRPr sz="5296"/>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D786549B-0EC3-4A1E-8A6E-9596CFD1E1A0}" type="datetimeFigureOut">
              <a:rPr lang="en-US" smtClean="0"/>
              <a:t>12/23/2025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4E09E3-7363-4EF4-9E85-770A0B21213D}" type="slidenum">
              <a:rPr lang="en-US" smtClean="0"/>
              <a:t>‹#›</a:t>
            </a:fld>
            <a:endParaRPr lang="en-US"/>
          </a:p>
        </p:txBody>
      </p:sp>
    </p:spTree>
    <p:extLst>
      <p:ext uri="{BB962C8B-B14F-4D97-AF65-F5344CB8AC3E}">
        <p14:creationId xmlns:p14="http://schemas.microsoft.com/office/powerpoint/2010/main" val="31242023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786549B-0EC3-4A1E-8A6E-9596CFD1E1A0}" type="datetimeFigureOut">
              <a:rPr lang="en-US" smtClean="0"/>
              <a:t>12/23/2025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4E09E3-7363-4EF4-9E85-770A0B21213D}" type="slidenum">
              <a:rPr lang="en-US" smtClean="0"/>
              <a:t>‹#›</a:t>
            </a:fld>
            <a:endParaRPr lang="en-US"/>
          </a:p>
        </p:txBody>
      </p:sp>
    </p:spTree>
    <p:extLst>
      <p:ext uri="{BB962C8B-B14F-4D97-AF65-F5344CB8AC3E}">
        <p14:creationId xmlns:p14="http://schemas.microsoft.com/office/powerpoint/2010/main" val="26252063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65112" y="10060946"/>
            <a:ext cx="26105525" cy="16786905"/>
          </a:xfrm>
        </p:spPr>
        <p:txBody>
          <a:bodyPr anchor="b"/>
          <a:lstStyle>
            <a:lvl1pPr>
              <a:defRPr sz="19861"/>
            </a:lvl1pPr>
          </a:lstStyle>
          <a:p>
            <a:r>
              <a:rPr lang="en-US" smtClean="0"/>
              <a:t>Click to edit Master title style</a:t>
            </a:r>
            <a:endParaRPr lang="en-US" dirty="0"/>
          </a:p>
        </p:txBody>
      </p:sp>
      <p:sp>
        <p:nvSpPr>
          <p:cNvPr id="3" name="Text Placeholder 2"/>
          <p:cNvSpPr>
            <a:spLocks noGrp="1"/>
          </p:cNvSpPr>
          <p:nvPr>
            <p:ph type="body" idx="1"/>
          </p:nvPr>
        </p:nvSpPr>
        <p:spPr>
          <a:xfrm>
            <a:off x="2065112" y="27006661"/>
            <a:ext cx="26105525" cy="8827837"/>
          </a:xfrm>
        </p:spPr>
        <p:txBody>
          <a:bodyPr/>
          <a:lstStyle>
            <a:lvl1pPr marL="0" indent="0">
              <a:buNone/>
              <a:defRPr sz="7944">
                <a:solidFill>
                  <a:schemeClr val="tx1"/>
                </a:solidFill>
              </a:defRPr>
            </a:lvl1pPr>
            <a:lvl2pPr marL="1513378" indent="0">
              <a:buNone/>
              <a:defRPr sz="6620">
                <a:solidFill>
                  <a:schemeClr val="tx1">
                    <a:tint val="75000"/>
                  </a:schemeClr>
                </a:solidFill>
              </a:defRPr>
            </a:lvl2pPr>
            <a:lvl3pPr marL="3026755" indent="0">
              <a:buNone/>
              <a:defRPr sz="5958">
                <a:solidFill>
                  <a:schemeClr val="tx1">
                    <a:tint val="75000"/>
                  </a:schemeClr>
                </a:solidFill>
              </a:defRPr>
            </a:lvl3pPr>
            <a:lvl4pPr marL="4540133" indent="0">
              <a:buNone/>
              <a:defRPr sz="5296">
                <a:solidFill>
                  <a:schemeClr val="tx1">
                    <a:tint val="75000"/>
                  </a:schemeClr>
                </a:solidFill>
              </a:defRPr>
            </a:lvl4pPr>
            <a:lvl5pPr marL="6053511" indent="0">
              <a:buNone/>
              <a:defRPr sz="5296">
                <a:solidFill>
                  <a:schemeClr val="tx1">
                    <a:tint val="75000"/>
                  </a:schemeClr>
                </a:solidFill>
              </a:defRPr>
            </a:lvl5pPr>
            <a:lvl6pPr marL="7566889" indent="0">
              <a:buNone/>
              <a:defRPr sz="5296">
                <a:solidFill>
                  <a:schemeClr val="tx1">
                    <a:tint val="75000"/>
                  </a:schemeClr>
                </a:solidFill>
              </a:defRPr>
            </a:lvl6pPr>
            <a:lvl7pPr marL="9080266" indent="0">
              <a:buNone/>
              <a:defRPr sz="5296">
                <a:solidFill>
                  <a:schemeClr val="tx1">
                    <a:tint val="75000"/>
                  </a:schemeClr>
                </a:solidFill>
              </a:defRPr>
            </a:lvl7pPr>
            <a:lvl8pPr marL="10593644" indent="0">
              <a:buNone/>
              <a:defRPr sz="5296">
                <a:solidFill>
                  <a:schemeClr val="tx1">
                    <a:tint val="75000"/>
                  </a:schemeClr>
                </a:solidFill>
              </a:defRPr>
            </a:lvl8pPr>
            <a:lvl9pPr marL="12107022" indent="0">
              <a:buNone/>
              <a:defRPr sz="5296">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786549B-0EC3-4A1E-8A6E-9596CFD1E1A0}" type="datetimeFigureOut">
              <a:rPr lang="en-US" smtClean="0"/>
              <a:t>12/23/2025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4E09E3-7363-4EF4-9E85-770A0B21213D}" type="slidenum">
              <a:rPr lang="en-US" smtClean="0"/>
              <a:t>‹#›</a:t>
            </a:fld>
            <a:endParaRPr lang="en-US"/>
          </a:p>
        </p:txBody>
      </p:sp>
    </p:spTree>
    <p:extLst>
      <p:ext uri="{BB962C8B-B14F-4D97-AF65-F5344CB8AC3E}">
        <p14:creationId xmlns:p14="http://schemas.microsoft.com/office/powerpoint/2010/main" val="7611689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2080875" y="10742874"/>
            <a:ext cx="12863592" cy="2560540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15322808" y="10742874"/>
            <a:ext cx="12863592" cy="2560540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D786549B-0EC3-4A1E-8A6E-9596CFD1E1A0}" type="datetimeFigureOut">
              <a:rPr lang="en-US" smtClean="0"/>
              <a:t>12/23/2025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A4E09E3-7363-4EF4-9E85-770A0B21213D}" type="slidenum">
              <a:rPr lang="en-US" smtClean="0"/>
              <a:t>‹#›</a:t>
            </a:fld>
            <a:endParaRPr lang="en-US"/>
          </a:p>
        </p:txBody>
      </p:sp>
    </p:spTree>
    <p:extLst>
      <p:ext uri="{BB962C8B-B14F-4D97-AF65-F5344CB8AC3E}">
        <p14:creationId xmlns:p14="http://schemas.microsoft.com/office/powerpoint/2010/main" val="9361824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084817" y="2148584"/>
            <a:ext cx="26105525" cy="78002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2084821" y="9892788"/>
            <a:ext cx="12804474" cy="4848303"/>
          </a:xfrm>
        </p:spPr>
        <p:txBody>
          <a:bodyPr anchor="b"/>
          <a:lstStyle>
            <a:lvl1pPr marL="0" indent="0">
              <a:buNone/>
              <a:defRPr sz="7944" b="1"/>
            </a:lvl1pPr>
            <a:lvl2pPr marL="1513378" indent="0">
              <a:buNone/>
              <a:defRPr sz="6620" b="1"/>
            </a:lvl2pPr>
            <a:lvl3pPr marL="3026755" indent="0">
              <a:buNone/>
              <a:defRPr sz="5958" b="1"/>
            </a:lvl3pPr>
            <a:lvl4pPr marL="4540133" indent="0">
              <a:buNone/>
              <a:defRPr sz="5296" b="1"/>
            </a:lvl4pPr>
            <a:lvl5pPr marL="6053511" indent="0">
              <a:buNone/>
              <a:defRPr sz="5296" b="1"/>
            </a:lvl5pPr>
            <a:lvl6pPr marL="7566889" indent="0">
              <a:buNone/>
              <a:defRPr sz="5296" b="1"/>
            </a:lvl6pPr>
            <a:lvl7pPr marL="9080266" indent="0">
              <a:buNone/>
              <a:defRPr sz="5296" b="1"/>
            </a:lvl7pPr>
            <a:lvl8pPr marL="10593644" indent="0">
              <a:buNone/>
              <a:defRPr sz="5296" b="1"/>
            </a:lvl8pPr>
            <a:lvl9pPr marL="12107022" indent="0">
              <a:buNone/>
              <a:defRPr sz="5296" b="1"/>
            </a:lvl9pPr>
          </a:lstStyle>
          <a:p>
            <a:pPr lvl="0"/>
            <a:r>
              <a:rPr lang="en-US" smtClean="0"/>
              <a:t>Click to edit Master text styles</a:t>
            </a:r>
          </a:p>
        </p:txBody>
      </p:sp>
      <p:sp>
        <p:nvSpPr>
          <p:cNvPr id="4" name="Content Placeholder 3"/>
          <p:cNvSpPr>
            <a:spLocks noGrp="1"/>
          </p:cNvSpPr>
          <p:nvPr>
            <p:ph sz="half" idx="2"/>
          </p:nvPr>
        </p:nvSpPr>
        <p:spPr>
          <a:xfrm>
            <a:off x="2084821" y="14741091"/>
            <a:ext cx="12804474" cy="21681924"/>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15322810" y="9892788"/>
            <a:ext cx="12867534" cy="4848303"/>
          </a:xfrm>
        </p:spPr>
        <p:txBody>
          <a:bodyPr anchor="b"/>
          <a:lstStyle>
            <a:lvl1pPr marL="0" indent="0">
              <a:buNone/>
              <a:defRPr sz="7944" b="1"/>
            </a:lvl1pPr>
            <a:lvl2pPr marL="1513378" indent="0">
              <a:buNone/>
              <a:defRPr sz="6620" b="1"/>
            </a:lvl2pPr>
            <a:lvl3pPr marL="3026755" indent="0">
              <a:buNone/>
              <a:defRPr sz="5958" b="1"/>
            </a:lvl3pPr>
            <a:lvl4pPr marL="4540133" indent="0">
              <a:buNone/>
              <a:defRPr sz="5296" b="1"/>
            </a:lvl4pPr>
            <a:lvl5pPr marL="6053511" indent="0">
              <a:buNone/>
              <a:defRPr sz="5296" b="1"/>
            </a:lvl5pPr>
            <a:lvl6pPr marL="7566889" indent="0">
              <a:buNone/>
              <a:defRPr sz="5296" b="1"/>
            </a:lvl6pPr>
            <a:lvl7pPr marL="9080266" indent="0">
              <a:buNone/>
              <a:defRPr sz="5296" b="1"/>
            </a:lvl7pPr>
            <a:lvl8pPr marL="10593644" indent="0">
              <a:buNone/>
              <a:defRPr sz="5296" b="1"/>
            </a:lvl8pPr>
            <a:lvl9pPr marL="12107022" indent="0">
              <a:buNone/>
              <a:defRPr sz="5296" b="1"/>
            </a:lvl9pPr>
          </a:lstStyle>
          <a:p>
            <a:pPr lvl="0"/>
            <a:r>
              <a:rPr lang="en-US" smtClean="0"/>
              <a:t>Click to edit Master text styles</a:t>
            </a:r>
          </a:p>
        </p:txBody>
      </p:sp>
      <p:sp>
        <p:nvSpPr>
          <p:cNvPr id="6" name="Content Placeholder 5"/>
          <p:cNvSpPr>
            <a:spLocks noGrp="1"/>
          </p:cNvSpPr>
          <p:nvPr>
            <p:ph sz="quarter" idx="4"/>
          </p:nvPr>
        </p:nvSpPr>
        <p:spPr>
          <a:xfrm>
            <a:off x="15322810" y="14741091"/>
            <a:ext cx="12867534" cy="21681924"/>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D786549B-0EC3-4A1E-8A6E-9596CFD1E1A0}" type="datetimeFigureOut">
              <a:rPr lang="en-US" smtClean="0"/>
              <a:t>12/23/2025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A4E09E3-7363-4EF4-9E85-770A0B21213D}" type="slidenum">
              <a:rPr lang="en-US" smtClean="0"/>
              <a:t>‹#›</a:t>
            </a:fld>
            <a:endParaRPr lang="en-US"/>
          </a:p>
        </p:txBody>
      </p:sp>
    </p:spTree>
    <p:extLst>
      <p:ext uri="{BB962C8B-B14F-4D97-AF65-F5344CB8AC3E}">
        <p14:creationId xmlns:p14="http://schemas.microsoft.com/office/powerpoint/2010/main" val="24773662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D786549B-0EC3-4A1E-8A6E-9596CFD1E1A0}" type="datetimeFigureOut">
              <a:rPr lang="en-US" smtClean="0"/>
              <a:t>12/23/2025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A4E09E3-7363-4EF4-9E85-770A0B21213D}" type="slidenum">
              <a:rPr lang="en-US" smtClean="0"/>
              <a:t>‹#›</a:t>
            </a:fld>
            <a:endParaRPr lang="en-US"/>
          </a:p>
        </p:txBody>
      </p:sp>
    </p:spTree>
    <p:extLst>
      <p:ext uri="{BB962C8B-B14F-4D97-AF65-F5344CB8AC3E}">
        <p14:creationId xmlns:p14="http://schemas.microsoft.com/office/powerpoint/2010/main" val="11085756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786549B-0EC3-4A1E-8A6E-9596CFD1E1A0}" type="datetimeFigureOut">
              <a:rPr lang="en-US" smtClean="0"/>
              <a:t>12/23/2025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A4E09E3-7363-4EF4-9E85-770A0B21213D}" type="slidenum">
              <a:rPr lang="en-US" smtClean="0"/>
              <a:t>‹#›</a:t>
            </a:fld>
            <a:endParaRPr lang="en-US"/>
          </a:p>
        </p:txBody>
      </p:sp>
    </p:spTree>
    <p:extLst>
      <p:ext uri="{BB962C8B-B14F-4D97-AF65-F5344CB8AC3E}">
        <p14:creationId xmlns:p14="http://schemas.microsoft.com/office/powerpoint/2010/main" val="13623755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84817" y="2690389"/>
            <a:ext cx="9761984" cy="9416362"/>
          </a:xfrm>
        </p:spPr>
        <p:txBody>
          <a:bodyPr anchor="b"/>
          <a:lstStyle>
            <a:lvl1pPr>
              <a:defRPr sz="10592"/>
            </a:lvl1pPr>
          </a:lstStyle>
          <a:p>
            <a:r>
              <a:rPr lang="en-US" smtClean="0"/>
              <a:t>Click to edit Master title style</a:t>
            </a:r>
            <a:endParaRPr lang="en-US" dirty="0"/>
          </a:p>
        </p:txBody>
      </p:sp>
      <p:sp>
        <p:nvSpPr>
          <p:cNvPr id="3" name="Content Placeholder 2"/>
          <p:cNvSpPr>
            <a:spLocks noGrp="1"/>
          </p:cNvSpPr>
          <p:nvPr>
            <p:ph idx="1"/>
          </p:nvPr>
        </p:nvSpPr>
        <p:spPr>
          <a:xfrm>
            <a:off x="12867534" y="5810502"/>
            <a:ext cx="15322808" cy="28678802"/>
          </a:xfrm>
        </p:spPr>
        <p:txBody>
          <a:bodyPr/>
          <a:lstStyle>
            <a:lvl1pPr>
              <a:defRPr sz="10592"/>
            </a:lvl1pPr>
            <a:lvl2pPr>
              <a:defRPr sz="9268"/>
            </a:lvl2pPr>
            <a:lvl3pPr>
              <a:defRPr sz="7944"/>
            </a:lvl3pPr>
            <a:lvl4pPr>
              <a:defRPr sz="6620"/>
            </a:lvl4pPr>
            <a:lvl5pPr>
              <a:defRPr sz="6620"/>
            </a:lvl5pPr>
            <a:lvl6pPr>
              <a:defRPr sz="6620"/>
            </a:lvl6pPr>
            <a:lvl7pPr>
              <a:defRPr sz="6620"/>
            </a:lvl7pPr>
            <a:lvl8pPr>
              <a:defRPr sz="6620"/>
            </a:lvl8pPr>
            <a:lvl9pPr>
              <a:defRPr sz="662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2084817" y="12106751"/>
            <a:ext cx="9761984" cy="22429255"/>
          </a:xfrm>
        </p:spPr>
        <p:txBody>
          <a:bodyPr/>
          <a:lstStyle>
            <a:lvl1pPr marL="0" indent="0">
              <a:buNone/>
              <a:defRPr sz="5296"/>
            </a:lvl1pPr>
            <a:lvl2pPr marL="1513378" indent="0">
              <a:buNone/>
              <a:defRPr sz="4634"/>
            </a:lvl2pPr>
            <a:lvl3pPr marL="3026755" indent="0">
              <a:buNone/>
              <a:defRPr sz="3972"/>
            </a:lvl3pPr>
            <a:lvl4pPr marL="4540133" indent="0">
              <a:buNone/>
              <a:defRPr sz="3310"/>
            </a:lvl4pPr>
            <a:lvl5pPr marL="6053511" indent="0">
              <a:buNone/>
              <a:defRPr sz="3310"/>
            </a:lvl5pPr>
            <a:lvl6pPr marL="7566889" indent="0">
              <a:buNone/>
              <a:defRPr sz="3310"/>
            </a:lvl6pPr>
            <a:lvl7pPr marL="9080266" indent="0">
              <a:buNone/>
              <a:defRPr sz="3310"/>
            </a:lvl7pPr>
            <a:lvl8pPr marL="10593644" indent="0">
              <a:buNone/>
              <a:defRPr sz="3310"/>
            </a:lvl8pPr>
            <a:lvl9pPr marL="12107022" indent="0">
              <a:buNone/>
              <a:defRPr sz="331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786549B-0EC3-4A1E-8A6E-9596CFD1E1A0}" type="datetimeFigureOut">
              <a:rPr lang="en-US" smtClean="0"/>
              <a:t>12/23/2025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A4E09E3-7363-4EF4-9E85-770A0B21213D}" type="slidenum">
              <a:rPr lang="en-US" smtClean="0"/>
              <a:t>‹#›</a:t>
            </a:fld>
            <a:endParaRPr lang="en-US"/>
          </a:p>
        </p:txBody>
      </p:sp>
    </p:spTree>
    <p:extLst>
      <p:ext uri="{BB962C8B-B14F-4D97-AF65-F5344CB8AC3E}">
        <p14:creationId xmlns:p14="http://schemas.microsoft.com/office/powerpoint/2010/main" val="27862660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84817" y="2690389"/>
            <a:ext cx="9761984" cy="9416362"/>
          </a:xfrm>
        </p:spPr>
        <p:txBody>
          <a:bodyPr anchor="b"/>
          <a:lstStyle>
            <a:lvl1pPr>
              <a:defRPr sz="10592"/>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2867534" y="5810502"/>
            <a:ext cx="15322808" cy="28678802"/>
          </a:xfrm>
        </p:spPr>
        <p:txBody>
          <a:bodyPr anchor="t"/>
          <a:lstStyle>
            <a:lvl1pPr marL="0" indent="0">
              <a:buNone/>
              <a:defRPr sz="10592"/>
            </a:lvl1pPr>
            <a:lvl2pPr marL="1513378" indent="0">
              <a:buNone/>
              <a:defRPr sz="9268"/>
            </a:lvl2pPr>
            <a:lvl3pPr marL="3026755" indent="0">
              <a:buNone/>
              <a:defRPr sz="7944"/>
            </a:lvl3pPr>
            <a:lvl4pPr marL="4540133" indent="0">
              <a:buNone/>
              <a:defRPr sz="6620"/>
            </a:lvl4pPr>
            <a:lvl5pPr marL="6053511" indent="0">
              <a:buNone/>
              <a:defRPr sz="6620"/>
            </a:lvl5pPr>
            <a:lvl6pPr marL="7566889" indent="0">
              <a:buNone/>
              <a:defRPr sz="6620"/>
            </a:lvl6pPr>
            <a:lvl7pPr marL="9080266" indent="0">
              <a:buNone/>
              <a:defRPr sz="6620"/>
            </a:lvl7pPr>
            <a:lvl8pPr marL="10593644" indent="0">
              <a:buNone/>
              <a:defRPr sz="6620"/>
            </a:lvl8pPr>
            <a:lvl9pPr marL="12107022" indent="0">
              <a:buNone/>
              <a:defRPr sz="6620"/>
            </a:lvl9pPr>
          </a:lstStyle>
          <a:p>
            <a:r>
              <a:rPr lang="en-US" smtClean="0"/>
              <a:t>Click icon to add picture</a:t>
            </a:r>
            <a:endParaRPr lang="en-US" dirty="0"/>
          </a:p>
        </p:txBody>
      </p:sp>
      <p:sp>
        <p:nvSpPr>
          <p:cNvPr id="4" name="Text Placeholder 3"/>
          <p:cNvSpPr>
            <a:spLocks noGrp="1"/>
          </p:cNvSpPr>
          <p:nvPr>
            <p:ph type="body" sz="half" idx="2"/>
          </p:nvPr>
        </p:nvSpPr>
        <p:spPr>
          <a:xfrm>
            <a:off x="2084817" y="12106751"/>
            <a:ext cx="9761984" cy="22429255"/>
          </a:xfrm>
        </p:spPr>
        <p:txBody>
          <a:bodyPr/>
          <a:lstStyle>
            <a:lvl1pPr marL="0" indent="0">
              <a:buNone/>
              <a:defRPr sz="5296"/>
            </a:lvl1pPr>
            <a:lvl2pPr marL="1513378" indent="0">
              <a:buNone/>
              <a:defRPr sz="4634"/>
            </a:lvl2pPr>
            <a:lvl3pPr marL="3026755" indent="0">
              <a:buNone/>
              <a:defRPr sz="3972"/>
            </a:lvl3pPr>
            <a:lvl4pPr marL="4540133" indent="0">
              <a:buNone/>
              <a:defRPr sz="3310"/>
            </a:lvl4pPr>
            <a:lvl5pPr marL="6053511" indent="0">
              <a:buNone/>
              <a:defRPr sz="3310"/>
            </a:lvl5pPr>
            <a:lvl6pPr marL="7566889" indent="0">
              <a:buNone/>
              <a:defRPr sz="3310"/>
            </a:lvl6pPr>
            <a:lvl7pPr marL="9080266" indent="0">
              <a:buNone/>
              <a:defRPr sz="3310"/>
            </a:lvl7pPr>
            <a:lvl8pPr marL="10593644" indent="0">
              <a:buNone/>
              <a:defRPr sz="3310"/>
            </a:lvl8pPr>
            <a:lvl9pPr marL="12107022" indent="0">
              <a:buNone/>
              <a:defRPr sz="331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786549B-0EC3-4A1E-8A6E-9596CFD1E1A0}" type="datetimeFigureOut">
              <a:rPr lang="en-US" smtClean="0"/>
              <a:t>12/23/2025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A4E09E3-7363-4EF4-9E85-770A0B21213D}" type="slidenum">
              <a:rPr lang="en-US" smtClean="0"/>
              <a:t>‹#›</a:t>
            </a:fld>
            <a:endParaRPr lang="en-US"/>
          </a:p>
        </p:txBody>
      </p:sp>
    </p:spTree>
    <p:extLst>
      <p:ext uri="{BB962C8B-B14F-4D97-AF65-F5344CB8AC3E}">
        <p14:creationId xmlns:p14="http://schemas.microsoft.com/office/powerpoint/2010/main" val="21277305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786549B-0EC3-4A1E-8A6E-9596CFD1E1A0}" type="datetimeFigureOut">
              <a:rPr lang="en-US" smtClean="0"/>
              <a:t>12/23/2025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4E09E3-7363-4EF4-9E85-770A0B21213D}" type="slidenum">
              <a:rPr lang="en-US" smtClean="0"/>
              <a:t>‹#›</a:t>
            </a:fld>
            <a:endParaRPr lang="en-US"/>
          </a:p>
        </p:txBody>
      </p:sp>
    </p:spTree>
    <p:extLst>
      <p:ext uri="{BB962C8B-B14F-4D97-AF65-F5344CB8AC3E}">
        <p14:creationId xmlns:p14="http://schemas.microsoft.com/office/powerpoint/2010/main" val="31093479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1660020" y="2148575"/>
            <a:ext cx="6526381" cy="34199707"/>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080877" y="2148575"/>
            <a:ext cx="19200803" cy="3419970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786549B-0EC3-4A1E-8A6E-9596CFD1E1A0}" type="datetimeFigureOut">
              <a:rPr lang="en-US" smtClean="0"/>
              <a:t>12/23/2025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4E09E3-7363-4EF4-9E85-770A0B21213D}" type="slidenum">
              <a:rPr lang="en-US" smtClean="0"/>
              <a:t>‹#›</a:t>
            </a:fld>
            <a:endParaRPr lang="en-US"/>
          </a:p>
        </p:txBody>
      </p:sp>
    </p:spTree>
    <p:extLst>
      <p:ext uri="{BB962C8B-B14F-4D97-AF65-F5344CB8AC3E}">
        <p14:creationId xmlns:p14="http://schemas.microsoft.com/office/powerpoint/2010/main" val="39725506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080875" y="2148584"/>
            <a:ext cx="26105525" cy="7800263"/>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2080875" y="10742874"/>
            <a:ext cx="26105525" cy="2560540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2080875" y="37403892"/>
            <a:ext cx="6810137" cy="2148575"/>
          </a:xfrm>
          <a:prstGeom prst="rect">
            <a:avLst/>
          </a:prstGeom>
        </p:spPr>
        <p:txBody>
          <a:bodyPr vert="horz" lIns="91440" tIns="45720" rIns="91440" bIns="45720" rtlCol="0" anchor="ctr"/>
          <a:lstStyle>
            <a:lvl1pPr algn="l">
              <a:defRPr sz="3972">
                <a:solidFill>
                  <a:schemeClr val="tx1">
                    <a:tint val="75000"/>
                  </a:schemeClr>
                </a:solidFill>
              </a:defRPr>
            </a:lvl1pPr>
          </a:lstStyle>
          <a:p>
            <a:fld id="{D786549B-0EC3-4A1E-8A6E-9596CFD1E1A0}" type="datetimeFigureOut">
              <a:rPr lang="en-US" smtClean="0"/>
              <a:t>12/23/2025</a:t>
            </a:fld>
            <a:endParaRPr lang="en-US"/>
          </a:p>
        </p:txBody>
      </p:sp>
      <p:sp>
        <p:nvSpPr>
          <p:cNvPr id="5" name="Footer Placeholder 4"/>
          <p:cNvSpPr>
            <a:spLocks noGrp="1"/>
          </p:cNvSpPr>
          <p:nvPr>
            <p:ph type="ftr" sz="quarter" idx="3"/>
          </p:nvPr>
        </p:nvSpPr>
        <p:spPr>
          <a:xfrm>
            <a:off x="10026035" y="37403892"/>
            <a:ext cx="10215205" cy="2148575"/>
          </a:xfrm>
          <a:prstGeom prst="rect">
            <a:avLst/>
          </a:prstGeom>
        </p:spPr>
        <p:txBody>
          <a:bodyPr vert="horz" lIns="91440" tIns="45720" rIns="91440" bIns="45720" rtlCol="0" anchor="ctr"/>
          <a:lstStyle>
            <a:lvl1pPr algn="ctr">
              <a:defRPr sz="3972">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21376263" y="37403892"/>
            <a:ext cx="6810137" cy="2148575"/>
          </a:xfrm>
          <a:prstGeom prst="rect">
            <a:avLst/>
          </a:prstGeom>
        </p:spPr>
        <p:txBody>
          <a:bodyPr vert="horz" lIns="91440" tIns="45720" rIns="91440" bIns="45720" rtlCol="0" anchor="ctr"/>
          <a:lstStyle>
            <a:lvl1pPr algn="r">
              <a:defRPr sz="3972">
                <a:solidFill>
                  <a:schemeClr val="tx1">
                    <a:tint val="75000"/>
                  </a:schemeClr>
                </a:solidFill>
              </a:defRPr>
            </a:lvl1pPr>
          </a:lstStyle>
          <a:p>
            <a:fld id="{EA4E09E3-7363-4EF4-9E85-770A0B21213D}" type="slidenum">
              <a:rPr lang="en-US" smtClean="0"/>
              <a:t>‹#›</a:t>
            </a:fld>
            <a:endParaRPr lang="en-US"/>
          </a:p>
        </p:txBody>
      </p:sp>
    </p:spTree>
    <p:extLst>
      <p:ext uri="{BB962C8B-B14F-4D97-AF65-F5344CB8AC3E}">
        <p14:creationId xmlns:p14="http://schemas.microsoft.com/office/powerpoint/2010/main" val="1594820277"/>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3026755" rtl="0" eaLnBrk="1" latinLnBrk="0" hangingPunct="1">
        <a:lnSpc>
          <a:spcPct val="90000"/>
        </a:lnSpc>
        <a:spcBef>
          <a:spcPct val="0"/>
        </a:spcBef>
        <a:buNone/>
        <a:defRPr sz="14564" kern="1200">
          <a:solidFill>
            <a:schemeClr val="tx1"/>
          </a:solidFill>
          <a:latin typeface="+mj-lt"/>
          <a:ea typeface="+mj-ea"/>
          <a:cs typeface="+mj-cs"/>
        </a:defRPr>
      </a:lvl1pPr>
    </p:titleStyle>
    <p:bodyStyle>
      <a:lvl1pPr marL="756689" indent="-756689" algn="l" defTabSz="3026755" rtl="0" eaLnBrk="1" latinLnBrk="0" hangingPunct="1">
        <a:lnSpc>
          <a:spcPct val="90000"/>
        </a:lnSpc>
        <a:spcBef>
          <a:spcPts val="3310"/>
        </a:spcBef>
        <a:buFont typeface="Arial" panose="020B0604020202020204" pitchFamily="34" charset="0"/>
        <a:buChar char="•"/>
        <a:defRPr sz="9268" kern="1200">
          <a:solidFill>
            <a:schemeClr val="tx1"/>
          </a:solidFill>
          <a:latin typeface="+mn-lt"/>
          <a:ea typeface="+mn-ea"/>
          <a:cs typeface="+mn-cs"/>
        </a:defRPr>
      </a:lvl1pPr>
      <a:lvl2pPr marL="2270067" indent="-756689" algn="l" defTabSz="3026755" rtl="0" eaLnBrk="1" latinLnBrk="0" hangingPunct="1">
        <a:lnSpc>
          <a:spcPct val="90000"/>
        </a:lnSpc>
        <a:spcBef>
          <a:spcPts val="1655"/>
        </a:spcBef>
        <a:buFont typeface="Arial" panose="020B0604020202020204" pitchFamily="34" charset="0"/>
        <a:buChar char="•"/>
        <a:defRPr sz="7944" kern="1200">
          <a:solidFill>
            <a:schemeClr val="tx1"/>
          </a:solidFill>
          <a:latin typeface="+mn-lt"/>
          <a:ea typeface="+mn-ea"/>
          <a:cs typeface="+mn-cs"/>
        </a:defRPr>
      </a:lvl2pPr>
      <a:lvl3pPr marL="3783444" indent="-756689" algn="l" defTabSz="3026755" rtl="0" eaLnBrk="1" latinLnBrk="0" hangingPunct="1">
        <a:lnSpc>
          <a:spcPct val="90000"/>
        </a:lnSpc>
        <a:spcBef>
          <a:spcPts val="1655"/>
        </a:spcBef>
        <a:buFont typeface="Arial" panose="020B0604020202020204" pitchFamily="34" charset="0"/>
        <a:buChar char="•"/>
        <a:defRPr sz="6620" kern="1200">
          <a:solidFill>
            <a:schemeClr val="tx1"/>
          </a:solidFill>
          <a:latin typeface="+mn-lt"/>
          <a:ea typeface="+mn-ea"/>
          <a:cs typeface="+mn-cs"/>
        </a:defRPr>
      </a:lvl3pPr>
      <a:lvl4pPr marL="5296822" indent="-756689" algn="l" defTabSz="3026755" rtl="0" eaLnBrk="1" latinLnBrk="0" hangingPunct="1">
        <a:lnSpc>
          <a:spcPct val="90000"/>
        </a:lnSpc>
        <a:spcBef>
          <a:spcPts val="1655"/>
        </a:spcBef>
        <a:buFont typeface="Arial" panose="020B0604020202020204" pitchFamily="34" charset="0"/>
        <a:buChar char="•"/>
        <a:defRPr sz="5958" kern="1200">
          <a:solidFill>
            <a:schemeClr val="tx1"/>
          </a:solidFill>
          <a:latin typeface="+mn-lt"/>
          <a:ea typeface="+mn-ea"/>
          <a:cs typeface="+mn-cs"/>
        </a:defRPr>
      </a:lvl4pPr>
      <a:lvl5pPr marL="6810200" indent="-756689" algn="l" defTabSz="3026755" rtl="0" eaLnBrk="1" latinLnBrk="0" hangingPunct="1">
        <a:lnSpc>
          <a:spcPct val="90000"/>
        </a:lnSpc>
        <a:spcBef>
          <a:spcPts val="1655"/>
        </a:spcBef>
        <a:buFont typeface="Arial" panose="020B0604020202020204" pitchFamily="34" charset="0"/>
        <a:buChar char="•"/>
        <a:defRPr sz="5958" kern="1200">
          <a:solidFill>
            <a:schemeClr val="tx1"/>
          </a:solidFill>
          <a:latin typeface="+mn-lt"/>
          <a:ea typeface="+mn-ea"/>
          <a:cs typeface="+mn-cs"/>
        </a:defRPr>
      </a:lvl5pPr>
      <a:lvl6pPr marL="8323577" indent="-756689" algn="l" defTabSz="3026755" rtl="0" eaLnBrk="1" latinLnBrk="0" hangingPunct="1">
        <a:lnSpc>
          <a:spcPct val="90000"/>
        </a:lnSpc>
        <a:spcBef>
          <a:spcPts val="1655"/>
        </a:spcBef>
        <a:buFont typeface="Arial" panose="020B0604020202020204" pitchFamily="34" charset="0"/>
        <a:buChar char="•"/>
        <a:defRPr sz="5958" kern="1200">
          <a:solidFill>
            <a:schemeClr val="tx1"/>
          </a:solidFill>
          <a:latin typeface="+mn-lt"/>
          <a:ea typeface="+mn-ea"/>
          <a:cs typeface="+mn-cs"/>
        </a:defRPr>
      </a:lvl6pPr>
      <a:lvl7pPr marL="9836955" indent="-756689" algn="l" defTabSz="3026755" rtl="0" eaLnBrk="1" latinLnBrk="0" hangingPunct="1">
        <a:lnSpc>
          <a:spcPct val="90000"/>
        </a:lnSpc>
        <a:spcBef>
          <a:spcPts val="1655"/>
        </a:spcBef>
        <a:buFont typeface="Arial" panose="020B0604020202020204" pitchFamily="34" charset="0"/>
        <a:buChar char="•"/>
        <a:defRPr sz="5958" kern="1200">
          <a:solidFill>
            <a:schemeClr val="tx1"/>
          </a:solidFill>
          <a:latin typeface="+mn-lt"/>
          <a:ea typeface="+mn-ea"/>
          <a:cs typeface="+mn-cs"/>
        </a:defRPr>
      </a:lvl7pPr>
      <a:lvl8pPr marL="11350333" indent="-756689" algn="l" defTabSz="3026755" rtl="0" eaLnBrk="1" latinLnBrk="0" hangingPunct="1">
        <a:lnSpc>
          <a:spcPct val="90000"/>
        </a:lnSpc>
        <a:spcBef>
          <a:spcPts val="1655"/>
        </a:spcBef>
        <a:buFont typeface="Arial" panose="020B0604020202020204" pitchFamily="34" charset="0"/>
        <a:buChar char="•"/>
        <a:defRPr sz="5958" kern="1200">
          <a:solidFill>
            <a:schemeClr val="tx1"/>
          </a:solidFill>
          <a:latin typeface="+mn-lt"/>
          <a:ea typeface="+mn-ea"/>
          <a:cs typeface="+mn-cs"/>
        </a:defRPr>
      </a:lvl8pPr>
      <a:lvl9pPr marL="12863711" indent="-756689" algn="l" defTabSz="3026755" rtl="0" eaLnBrk="1" latinLnBrk="0" hangingPunct="1">
        <a:lnSpc>
          <a:spcPct val="90000"/>
        </a:lnSpc>
        <a:spcBef>
          <a:spcPts val="1655"/>
        </a:spcBef>
        <a:buFont typeface="Arial" panose="020B0604020202020204" pitchFamily="34" charset="0"/>
        <a:buChar char="•"/>
        <a:defRPr sz="5958" kern="1200">
          <a:solidFill>
            <a:schemeClr val="tx1"/>
          </a:solidFill>
          <a:latin typeface="+mn-lt"/>
          <a:ea typeface="+mn-ea"/>
          <a:cs typeface="+mn-cs"/>
        </a:defRPr>
      </a:lvl9pPr>
    </p:bodyStyle>
    <p:otherStyle>
      <a:defPPr>
        <a:defRPr lang="en-US"/>
      </a:defPPr>
      <a:lvl1pPr marL="0" algn="l" defTabSz="3026755" rtl="0" eaLnBrk="1" latinLnBrk="0" hangingPunct="1">
        <a:defRPr sz="5958" kern="1200">
          <a:solidFill>
            <a:schemeClr val="tx1"/>
          </a:solidFill>
          <a:latin typeface="+mn-lt"/>
          <a:ea typeface="+mn-ea"/>
          <a:cs typeface="+mn-cs"/>
        </a:defRPr>
      </a:lvl1pPr>
      <a:lvl2pPr marL="1513378" algn="l" defTabSz="3026755" rtl="0" eaLnBrk="1" latinLnBrk="0" hangingPunct="1">
        <a:defRPr sz="5958" kern="1200">
          <a:solidFill>
            <a:schemeClr val="tx1"/>
          </a:solidFill>
          <a:latin typeface="+mn-lt"/>
          <a:ea typeface="+mn-ea"/>
          <a:cs typeface="+mn-cs"/>
        </a:defRPr>
      </a:lvl2pPr>
      <a:lvl3pPr marL="3026755" algn="l" defTabSz="3026755" rtl="0" eaLnBrk="1" latinLnBrk="0" hangingPunct="1">
        <a:defRPr sz="5958" kern="1200">
          <a:solidFill>
            <a:schemeClr val="tx1"/>
          </a:solidFill>
          <a:latin typeface="+mn-lt"/>
          <a:ea typeface="+mn-ea"/>
          <a:cs typeface="+mn-cs"/>
        </a:defRPr>
      </a:lvl3pPr>
      <a:lvl4pPr marL="4540133" algn="l" defTabSz="3026755" rtl="0" eaLnBrk="1" latinLnBrk="0" hangingPunct="1">
        <a:defRPr sz="5958" kern="1200">
          <a:solidFill>
            <a:schemeClr val="tx1"/>
          </a:solidFill>
          <a:latin typeface="+mn-lt"/>
          <a:ea typeface="+mn-ea"/>
          <a:cs typeface="+mn-cs"/>
        </a:defRPr>
      </a:lvl4pPr>
      <a:lvl5pPr marL="6053511" algn="l" defTabSz="3026755" rtl="0" eaLnBrk="1" latinLnBrk="0" hangingPunct="1">
        <a:defRPr sz="5958" kern="1200">
          <a:solidFill>
            <a:schemeClr val="tx1"/>
          </a:solidFill>
          <a:latin typeface="+mn-lt"/>
          <a:ea typeface="+mn-ea"/>
          <a:cs typeface="+mn-cs"/>
        </a:defRPr>
      </a:lvl5pPr>
      <a:lvl6pPr marL="7566889" algn="l" defTabSz="3026755" rtl="0" eaLnBrk="1" latinLnBrk="0" hangingPunct="1">
        <a:defRPr sz="5958" kern="1200">
          <a:solidFill>
            <a:schemeClr val="tx1"/>
          </a:solidFill>
          <a:latin typeface="+mn-lt"/>
          <a:ea typeface="+mn-ea"/>
          <a:cs typeface="+mn-cs"/>
        </a:defRPr>
      </a:lvl6pPr>
      <a:lvl7pPr marL="9080266" algn="l" defTabSz="3026755" rtl="0" eaLnBrk="1" latinLnBrk="0" hangingPunct="1">
        <a:defRPr sz="5958" kern="1200">
          <a:solidFill>
            <a:schemeClr val="tx1"/>
          </a:solidFill>
          <a:latin typeface="+mn-lt"/>
          <a:ea typeface="+mn-ea"/>
          <a:cs typeface="+mn-cs"/>
        </a:defRPr>
      </a:lvl7pPr>
      <a:lvl8pPr marL="10593644" algn="l" defTabSz="3026755" rtl="0" eaLnBrk="1" latinLnBrk="0" hangingPunct="1">
        <a:defRPr sz="5958" kern="1200">
          <a:solidFill>
            <a:schemeClr val="tx1"/>
          </a:solidFill>
          <a:latin typeface="+mn-lt"/>
          <a:ea typeface="+mn-ea"/>
          <a:cs typeface="+mn-cs"/>
        </a:defRPr>
      </a:lvl8pPr>
      <a:lvl9pPr marL="12107022" algn="l" defTabSz="3026755" rtl="0" eaLnBrk="1" latinLnBrk="0" hangingPunct="1">
        <a:defRPr sz="595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82673" y="895051"/>
            <a:ext cx="28701926" cy="4036334"/>
          </a:xfrm>
        </p:spPr>
        <p:txBody>
          <a:bodyPr>
            <a:normAutofit/>
          </a:bodyPr>
          <a:lstStyle/>
          <a:p>
            <a:r>
              <a:rPr lang="en-US" sz="6224" dirty="0">
                <a:latin typeface="Arial Black" panose="020B0A04020102020204" pitchFamily="34" charset="0"/>
              </a:rPr>
              <a:t>Computational analysis of the nonsense-mediated mRNA decay factor </a:t>
            </a:r>
            <a:r>
              <a:rPr lang="en-US" sz="6224" b="1" dirty="0">
                <a:latin typeface="Arial Black" panose="020B0A04020102020204" pitchFamily="34" charset="0"/>
              </a:rPr>
              <a:t>SMG9</a:t>
            </a:r>
            <a:br>
              <a:rPr lang="en-US" sz="6224" b="1" dirty="0">
                <a:latin typeface="Arial Black" panose="020B0A04020102020204" pitchFamily="34" charset="0"/>
              </a:rPr>
            </a:br>
            <a:r>
              <a:rPr lang="en-US" sz="5093" dirty="0" err="1">
                <a:solidFill>
                  <a:schemeClr val="accent1"/>
                </a:solidFill>
                <a:latin typeface="Arial Black" panose="020B0A04020102020204" pitchFamily="34" charset="0"/>
              </a:rPr>
              <a:t>Eraj</a:t>
            </a:r>
            <a:r>
              <a:rPr lang="en-US" sz="5093" dirty="0">
                <a:solidFill>
                  <a:schemeClr val="accent1"/>
                </a:solidFill>
                <a:latin typeface="Arial Black" panose="020B0A04020102020204" pitchFamily="34" charset="0"/>
              </a:rPr>
              <a:t> </a:t>
            </a:r>
            <a:r>
              <a:rPr lang="en-US" sz="5093" dirty="0" err="1">
                <a:solidFill>
                  <a:schemeClr val="accent1"/>
                </a:solidFill>
                <a:latin typeface="Arial Black" panose="020B0A04020102020204" pitchFamily="34" charset="0"/>
              </a:rPr>
              <a:t>Aijaz</a:t>
            </a:r>
            <a:r>
              <a:rPr lang="en-US" sz="5093" dirty="0">
                <a:solidFill>
                  <a:schemeClr val="accent1"/>
                </a:solidFill>
                <a:latin typeface="Arial Black" panose="020B0A04020102020204" pitchFamily="34" charset="0"/>
              </a:rPr>
              <a:t> I Department of Biochemistry I Bioinformatics Project</a:t>
            </a:r>
            <a:r>
              <a:rPr lang="en-US" sz="6224" b="1" dirty="0">
                <a:latin typeface="Arial Black" panose="020B0A04020102020204" pitchFamily="34" charset="0"/>
              </a:rPr>
              <a:t/>
            </a:r>
            <a:br>
              <a:rPr lang="en-US" sz="6224" b="1" dirty="0">
                <a:latin typeface="Arial Black" panose="020B0A04020102020204" pitchFamily="34" charset="0"/>
              </a:rPr>
            </a:br>
            <a:endParaRPr lang="en-US" sz="6224" dirty="0">
              <a:latin typeface="Arial Black" panose="020B0A04020102020204" pitchFamily="34" charset="0"/>
            </a:endParaRPr>
          </a:p>
        </p:txBody>
      </p:sp>
      <p:sp>
        <p:nvSpPr>
          <p:cNvPr id="3" name="Subtitle 2"/>
          <p:cNvSpPr>
            <a:spLocks noGrp="1"/>
          </p:cNvSpPr>
          <p:nvPr>
            <p:ph type="subTitle" idx="1"/>
          </p:nvPr>
        </p:nvSpPr>
        <p:spPr>
          <a:xfrm>
            <a:off x="1334059" y="5537010"/>
            <a:ext cx="7509983" cy="1484297"/>
          </a:xfrm>
          <a:noFill/>
        </p:spPr>
        <p:txBody>
          <a:bodyPr>
            <a:noAutofit/>
          </a:bodyPr>
          <a:lstStyle/>
          <a:p>
            <a:r>
              <a:rPr lang="en-US" sz="6600" dirty="0" smtClean="0">
                <a:effectLst>
                  <a:outerShdw blurRad="50800" dist="50800" dir="5400000" algn="ctr" rotWithShape="0">
                    <a:srgbClr val="000000">
                      <a:alpha val="0"/>
                    </a:srgbClr>
                  </a:outerShdw>
                </a:effectLst>
                <a:latin typeface="Arial Black" panose="020B0A04020102020204" pitchFamily="34" charset="0"/>
                <a:cs typeface="Arial" panose="020B0604020202020204" pitchFamily="34" charset="0"/>
              </a:rPr>
              <a:t>Introduction</a:t>
            </a:r>
            <a:endParaRPr lang="en-US" sz="6600" dirty="0">
              <a:effectLst>
                <a:outerShdw blurRad="50800" dist="50800" dir="5400000" algn="ctr" rotWithShape="0">
                  <a:srgbClr val="000000">
                    <a:alpha val="0"/>
                  </a:srgbClr>
                </a:outerShdw>
              </a:effectLst>
              <a:latin typeface="Arial Black" panose="020B0A04020102020204" pitchFamily="34" charset="0"/>
              <a:cs typeface="Arial" panose="020B0604020202020204" pitchFamily="34" charset="0"/>
            </a:endParaRPr>
          </a:p>
        </p:txBody>
      </p:sp>
      <p:sp>
        <p:nvSpPr>
          <p:cNvPr id="4" name="Rectangle 3"/>
          <p:cNvSpPr/>
          <p:nvPr/>
        </p:nvSpPr>
        <p:spPr>
          <a:xfrm>
            <a:off x="780457" y="4931385"/>
            <a:ext cx="8364398" cy="3542445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673" tIns="32337" rIns="64673" bIns="32337" numCol="1" spcCol="0" rtlCol="0" fromWordArt="0" anchor="ctr" anchorCtr="0" forceAA="0" compatLnSpc="1">
            <a:prstTxWarp prst="textNoShape">
              <a:avLst/>
            </a:prstTxWarp>
            <a:noAutofit/>
          </a:bodyPr>
          <a:lstStyle/>
          <a:p>
            <a:pPr algn="ctr"/>
            <a:endParaRPr lang="en-US" sz="5813"/>
          </a:p>
        </p:txBody>
      </p:sp>
      <p:sp>
        <p:nvSpPr>
          <p:cNvPr id="5" name="Rectangle 4"/>
          <p:cNvSpPr/>
          <p:nvPr/>
        </p:nvSpPr>
        <p:spPr>
          <a:xfrm>
            <a:off x="20458509" y="4931384"/>
            <a:ext cx="8364398" cy="3542445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673" tIns="32337" rIns="64673" bIns="32337" numCol="1" spcCol="0" rtlCol="0" fromWordArt="0" anchor="ctr" anchorCtr="0" forceAA="0" compatLnSpc="1">
            <a:prstTxWarp prst="textNoShape">
              <a:avLst/>
            </a:prstTxWarp>
            <a:noAutofit/>
          </a:bodyPr>
          <a:lstStyle/>
          <a:p>
            <a:pPr algn="ctr"/>
            <a:endParaRPr lang="en-US" sz="5813"/>
          </a:p>
        </p:txBody>
      </p:sp>
      <p:sp>
        <p:nvSpPr>
          <p:cNvPr id="6" name="Rectangle 5"/>
          <p:cNvSpPr/>
          <p:nvPr/>
        </p:nvSpPr>
        <p:spPr>
          <a:xfrm>
            <a:off x="10742233" y="4931384"/>
            <a:ext cx="8364398" cy="3542445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673" tIns="32337" rIns="64673" bIns="32337" numCol="1" spcCol="0" rtlCol="0" fromWordArt="0" anchor="ctr" anchorCtr="0" forceAA="0" compatLnSpc="1">
            <a:prstTxWarp prst="textNoShape">
              <a:avLst/>
            </a:prstTxWarp>
            <a:noAutofit/>
          </a:bodyPr>
          <a:lstStyle/>
          <a:p>
            <a:pPr algn="ctr"/>
            <a:endParaRPr lang="en-US" sz="5813"/>
          </a:p>
        </p:txBody>
      </p:sp>
      <p:sp>
        <p:nvSpPr>
          <p:cNvPr id="7" name="Rectangle 2"/>
          <p:cNvSpPr>
            <a:spLocks noChangeArrowheads="1"/>
          </p:cNvSpPr>
          <p:nvPr/>
        </p:nvSpPr>
        <p:spPr bwMode="auto">
          <a:xfrm>
            <a:off x="1679285" y="-3297209"/>
            <a:ext cx="4208248" cy="63999"/>
          </a:xfrm>
          <a:prstGeom prst="rect">
            <a:avLst/>
          </a:prstGeom>
          <a:solidFill>
            <a:srgbClr val="A0A0A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4673" tIns="32337" rIns="64673" bIns="32337" numCol="1" anchor="t" anchorCtr="0" compatLnSpc="1">
            <a:prstTxWarp prst="textNoShape">
              <a:avLst/>
            </a:prstTxWarp>
          </a:bodyPr>
          <a:lstStyle/>
          <a:p>
            <a:endParaRPr lang="en-US" sz="5813"/>
          </a:p>
        </p:txBody>
      </p:sp>
      <p:sp>
        <p:nvSpPr>
          <p:cNvPr id="11" name="Rectangle 10"/>
          <p:cNvSpPr/>
          <p:nvPr/>
        </p:nvSpPr>
        <p:spPr>
          <a:xfrm>
            <a:off x="778241" y="11748369"/>
            <a:ext cx="8366614" cy="2039032"/>
          </a:xfrm>
          <a:prstGeom prst="rect">
            <a:avLst/>
          </a:prstGeom>
          <a:noFill/>
          <a:ln w="19050" cmpd="sng">
            <a:solidFill>
              <a:schemeClr val="accent1">
                <a:shade val="50000"/>
              </a:schemeClr>
            </a:solid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673" tIns="32337" rIns="64673" bIns="32337" numCol="1" spcCol="0" rtlCol="0" fromWordArt="0" anchor="ctr" anchorCtr="0" forceAA="0" compatLnSpc="1">
            <a:prstTxWarp prst="textNoShape">
              <a:avLst/>
            </a:prstTxWarp>
            <a:noAutofit/>
          </a:bodyPr>
          <a:lstStyle/>
          <a:p>
            <a:pPr algn="ctr"/>
            <a:endParaRPr lang="en-US" sz="5813"/>
          </a:p>
        </p:txBody>
      </p:sp>
      <p:sp>
        <p:nvSpPr>
          <p:cNvPr id="13" name="Rectangle 12"/>
          <p:cNvSpPr/>
          <p:nvPr/>
        </p:nvSpPr>
        <p:spPr>
          <a:xfrm>
            <a:off x="780457" y="7370498"/>
            <a:ext cx="8260466" cy="1277786"/>
          </a:xfrm>
          <a:prstGeom prst="rect">
            <a:avLst/>
          </a:prstGeom>
        </p:spPr>
        <p:txBody>
          <a:bodyPr wrap="square">
            <a:spAutoFit/>
          </a:bodyPr>
          <a:lstStyle/>
          <a:p>
            <a:pPr marL="323355" algn="just">
              <a:lnSpc>
                <a:spcPct val="107000"/>
              </a:lnSpc>
            </a:pPr>
            <a:r>
              <a:rPr lang="en-US" sz="1800" dirty="0" err="1">
                <a:latin typeface="Calibri" panose="020F0502020204030204" pitchFamily="34" charset="0"/>
                <a:ea typeface="Calibri" panose="020F0502020204030204" pitchFamily="34" charset="0"/>
                <a:cs typeface="Arial" panose="020B0604020202020204" pitchFamily="34" charset="0"/>
              </a:rPr>
              <a:t>BLASTn</a:t>
            </a:r>
            <a:r>
              <a:rPr lang="en-US" sz="1800" dirty="0">
                <a:latin typeface="Calibri" panose="020F0502020204030204" pitchFamily="34" charset="0"/>
                <a:ea typeface="Calibri" panose="020F0502020204030204" pitchFamily="34" charset="0"/>
                <a:cs typeface="Arial" panose="020B0604020202020204" pitchFamily="34" charset="0"/>
              </a:rPr>
              <a:t> analysis of the nucleotide sequence against the NCBI database identified the sequence as the nonsense-mediated mRNA decay factor </a:t>
            </a:r>
            <a:r>
              <a:rPr lang="en-US" sz="1800" b="1" dirty="0">
                <a:latin typeface="Calibri" panose="020F0502020204030204" pitchFamily="34" charset="0"/>
                <a:ea typeface="Calibri" panose="020F0502020204030204" pitchFamily="34" charset="0"/>
                <a:cs typeface="Arial" panose="020B0604020202020204" pitchFamily="34" charset="0"/>
              </a:rPr>
              <a:t>SMG9</a:t>
            </a:r>
            <a:r>
              <a:rPr lang="en-US" sz="1800" dirty="0">
                <a:latin typeface="Calibri" panose="020F0502020204030204" pitchFamily="34" charset="0"/>
                <a:ea typeface="Calibri" panose="020F0502020204030204" pitchFamily="34" charset="0"/>
                <a:cs typeface="Arial" panose="020B0604020202020204" pitchFamily="34" charset="0"/>
              </a:rPr>
              <a:t>. The top hit showed 100% query coverage, 100% identity, and an E-value of 0.0, confirming the identity of the gene. </a:t>
            </a:r>
          </a:p>
        </p:txBody>
      </p:sp>
      <p:pic>
        <p:nvPicPr>
          <p:cNvPr id="14" name="Picture 13" descr="C:\Users\Mooti\Desktop\1.png"/>
          <p:cNvPicPr/>
          <p:nvPr/>
        </p:nvPicPr>
        <p:blipFill>
          <a:blip r:embed="rId2">
            <a:extLst>
              <a:ext uri="{28A0092B-C50C-407E-A947-70E740481C1C}">
                <a14:useLocalDpi xmlns:a14="http://schemas.microsoft.com/office/drawing/2010/main" val="0"/>
              </a:ext>
            </a:extLst>
          </a:blip>
          <a:srcRect/>
          <a:stretch>
            <a:fillRect/>
          </a:stretch>
        </p:blipFill>
        <p:spPr bwMode="auto">
          <a:xfrm>
            <a:off x="1016788" y="8931367"/>
            <a:ext cx="8114893" cy="2572545"/>
          </a:xfrm>
          <a:prstGeom prst="rect">
            <a:avLst/>
          </a:prstGeom>
          <a:noFill/>
          <a:ln>
            <a:noFill/>
          </a:ln>
        </p:spPr>
      </p:pic>
      <p:sp>
        <p:nvSpPr>
          <p:cNvPr id="15" name="Rectangle 14"/>
          <p:cNvSpPr/>
          <p:nvPr/>
        </p:nvSpPr>
        <p:spPr>
          <a:xfrm>
            <a:off x="780457" y="4939805"/>
            <a:ext cx="8364398" cy="1662566"/>
          </a:xfrm>
          <a:prstGeom prst="rect">
            <a:avLst/>
          </a:prstGeom>
          <a:noFill/>
          <a:ln w="19050" cmpd="sng">
            <a:solidFill>
              <a:schemeClr val="accent1">
                <a:shade val="50000"/>
              </a:schemeClr>
            </a:solid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673" tIns="32337" rIns="64673" bIns="32337" numCol="1" spcCol="0" rtlCol="0" fromWordArt="0" anchor="ctr" anchorCtr="0" forceAA="0" compatLnSpc="1">
            <a:prstTxWarp prst="textNoShape">
              <a:avLst/>
            </a:prstTxWarp>
            <a:noAutofit/>
          </a:bodyPr>
          <a:lstStyle/>
          <a:p>
            <a:pPr algn="ctr"/>
            <a:endParaRPr lang="en-US" sz="5813"/>
          </a:p>
        </p:txBody>
      </p:sp>
      <p:sp>
        <p:nvSpPr>
          <p:cNvPr id="16" name="Rectangle 15"/>
          <p:cNvSpPr/>
          <p:nvPr/>
        </p:nvSpPr>
        <p:spPr>
          <a:xfrm>
            <a:off x="522343" y="12248948"/>
            <a:ext cx="8397281" cy="1107996"/>
          </a:xfrm>
          <a:prstGeom prst="rect">
            <a:avLst/>
          </a:prstGeom>
        </p:spPr>
        <p:txBody>
          <a:bodyPr wrap="square">
            <a:spAutoFit/>
          </a:bodyPr>
          <a:lstStyle/>
          <a:p>
            <a:pPr algn="ctr"/>
            <a:r>
              <a:rPr lang="en-US" sz="6600" b="1" dirty="0" smtClean="0">
                <a:latin typeface="Arial Black" panose="020B0A04020102020204" pitchFamily="34" charset="0"/>
                <a:ea typeface="Calibri" panose="020F0502020204030204" pitchFamily="34" charset="0"/>
              </a:rPr>
              <a:t>DNA </a:t>
            </a:r>
            <a:r>
              <a:rPr lang="en-US" sz="6600" b="1" dirty="0">
                <a:latin typeface="Arial Black" panose="020B0A04020102020204" pitchFamily="34" charset="0"/>
                <a:ea typeface="Calibri" panose="020F0502020204030204" pitchFamily="34" charset="0"/>
              </a:rPr>
              <a:t>Analysis</a:t>
            </a:r>
            <a:endParaRPr lang="en-US" sz="6600" dirty="0">
              <a:latin typeface="Arial Black" panose="020B0A04020102020204" pitchFamily="34" charset="0"/>
            </a:endParaRPr>
          </a:p>
        </p:txBody>
      </p:sp>
      <p:sp>
        <p:nvSpPr>
          <p:cNvPr id="17" name="Rectangle 16"/>
          <p:cNvSpPr/>
          <p:nvPr/>
        </p:nvSpPr>
        <p:spPr>
          <a:xfrm>
            <a:off x="417915" y="14141663"/>
            <a:ext cx="8606136" cy="783869"/>
          </a:xfrm>
          <a:prstGeom prst="rect">
            <a:avLst/>
          </a:prstGeom>
        </p:spPr>
        <p:txBody>
          <a:bodyPr wrap="square">
            <a:spAutoFit/>
          </a:bodyPr>
          <a:lstStyle/>
          <a:p>
            <a:pPr marL="485032" algn="just">
              <a:lnSpc>
                <a:spcPct val="107000"/>
              </a:lnSpc>
              <a:spcAft>
                <a:spcPts val="566"/>
              </a:spcAft>
            </a:pPr>
            <a:r>
              <a:rPr lang="en-US" sz="1400" dirty="0">
                <a:latin typeface="Times New Roman" panose="02020603050405020304" pitchFamily="18" charset="0"/>
                <a:ea typeface="Times New Roman" panose="02020603050405020304" pitchFamily="18" charset="0"/>
                <a:cs typeface="Arial" panose="020B0604020202020204" pitchFamily="34" charset="0"/>
              </a:rPr>
              <a:t>The </a:t>
            </a:r>
            <a:r>
              <a:rPr lang="en-US" sz="1400" b="1" dirty="0">
                <a:latin typeface="Times New Roman" panose="02020603050405020304" pitchFamily="18" charset="0"/>
                <a:ea typeface="Times New Roman" panose="02020603050405020304" pitchFamily="18" charset="0"/>
                <a:cs typeface="Arial" panose="020B0604020202020204" pitchFamily="34" charset="0"/>
              </a:rPr>
              <a:t>longest ORF in the + strand</a:t>
            </a:r>
            <a:r>
              <a:rPr lang="en-US" sz="1400" dirty="0">
                <a:latin typeface="Times New Roman" panose="02020603050405020304" pitchFamily="18" charset="0"/>
                <a:ea typeface="Times New Roman" panose="02020603050405020304" pitchFamily="18" charset="0"/>
                <a:cs typeface="Arial" panose="020B0604020202020204" pitchFamily="34" charset="0"/>
              </a:rPr>
              <a:t> was selected as the </a:t>
            </a:r>
            <a:r>
              <a:rPr lang="en-US" sz="1400" b="1" dirty="0">
                <a:latin typeface="Times New Roman" panose="02020603050405020304" pitchFamily="18" charset="0"/>
                <a:ea typeface="Times New Roman" panose="02020603050405020304" pitchFamily="18" charset="0"/>
                <a:cs typeface="Arial" panose="020B0604020202020204" pitchFamily="34" charset="0"/>
              </a:rPr>
              <a:t>most likely coding region</a:t>
            </a:r>
            <a:r>
              <a:rPr lang="en-US" sz="1400" dirty="0">
                <a:latin typeface="Times New Roman" panose="02020603050405020304" pitchFamily="18" charset="0"/>
                <a:ea typeface="Times New Roman" panose="02020603050405020304" pitchFamily="18" charset="0"/>
                <a:cs typeface="Arial" panose="020B0604020202020204" pitchFamily="34" charset="0"/>
              </a:rPr>
              <a:t>. This ORF corresponded to the region that produced </a:t>
            </a:r>
            <a:r>
              <a:rPr lang="en-US" sz="1400" b="1" dirty="0">
                <a:latin typeface="Times New Roman" panose="02020603050405020304" pitchFamily="18" charset="0"/>
                <a:ea typeface="Times New Roman" panose="02020603050405020304" pitchFamily="18" charset="0"/>
                <a:cs typeface="Arial" panose="020B0604020202020204" pitchFamily="34" charset="0"/>
              </a:rPr>
              <a:t>high-confidence BL</a:t>
            </a:r>
            <a:r>
              <a:rPr lang="en-US" sz="1400" b="1" dirty="0">
                <a:latin typeface="Calibri" panose="020F0502020204030204" pitchFamily="34" charset="0"/>
                <a:ea typeface="Calibri" panose="020F0502020204030204" pitchFamily="34" charset="0"/>
                <a:cs typeface="Arial" panose="020B0604020202020204" pitchFamily="34" charset="0"/>
              </a:rPr>
              <a:t> AST hits to SMG9 mRNA</a:t>
            </a:r>
            <a:r>
              <a:rPr lang="en-US" sz="1400" dirty="0">
                <a:latin typeface="Calibri" panose="020F0502020204030204" pitchFamily="34" charset="0"/>
                <a:ea typeface="Calibri" panose="020F0502020204030204" pitchFamily="34" charset="0"/>
                <a:cs typeface="Arial" panose="020B0604020202020204" pitchFamily="34" charset="0"/>
              </a:rPr>
              <a:t>, confirming it as the true coding sequence.</a:t>
            </a:r>
          </a:p>
        </p:txBody>
      </p:sp>
      <p:pic>
        <p:nvPicPr>
          <p:cNvPr id="18" name="Picture 17" descr="C:\Users\Mooti\Desktop\2.png"/>
          <p:cNvPicPr/>
          <p:nvPr/>
        </p:nvPicPr>
        <p:blipFill>
          <a:blip r:embed="rId3">
            <a:extLst>
              <a:ext uri="{28A0092B-C50C-407E-A947-70E740481C1C}">
                <a14:useLocalDpi xmlns:a14="http://schemas.microsoft.com/office/drawing/2010/main" val="0"/>
              </a:ext>
            </a:extLst>
          </a:blip>
          <a:srcRect/>
          <a:stretch>
            <a:fillRect/>
          </a:stretch>
        </p:blipFill>
        <p:spPr bwMode="auto">
          <a:xfrm>
            <a:off x="812521" y="15230076"/>
            <a:ext cx="8364398" cy="2672439"/>
          </a:xfrm>
          <a:prstGeom prst="rect">
            <a:avLst/>
          </a:prstGeom>
          <a:noFill/>
          <a:ln>
            <a:noFill/>
          </a:ln>
        </p:spPr>
      </p:pic>
      <p:sp>
        <p:nvSpPr>
          <p:cNvPr id="19" name="Rectangle 18"/>
          <p:cNvSpPr/>
          <p:nvPr/>
        </p:nvSpPr>
        <p:spPr>
          <a:xfrm>
            <a:off x="479644" y="18336001"/>
            <a:ext cx="8364398" cy="954107"/>
          </a:xfrm>
          <a:prstGeom prst="rect">
            <a:avLst/>
          </a:prstGeom>
        </p:spPr>
        <p:txBody>
          <a:bodyPr wrap="square">
            <a:spAutoFit/>
          </a:bodyPr>
          <a:lstStyle/>
          <a:p>
            <a:pPr marL="242516" indent="-242516" algn="just">
              <a:buSzPts val="1000"/>
              <a:buFont typeface="Symbol" panose="05050102010706020507" pitchFamily="18" charset="2"/>
              <a:buChar char=""/>
              <a:tabLst>
                <a:tab pos="323355" algn="l"/>
              </a:tabLst>
            </a:pPr>
            <a:r>
              <a:rPr lang="en-US" sz="1400" dirty="0">
                <a:latin typeface="Times New Roman" panose="02020603050405020304" pitchFamily="18" charset="0"/>
                <a:ea typeface="Times New Roman" panose="02020603050405020304" pitchFamily="18" charset="0"/>
              </a:rPr>
              <a:t>Protein-level homology confirmed that the translated ORF encodes </a:t>
            </a:r>
            <a:r>
              <a:rPr lang="en-US" sz="1400" b="1" dirty="0">
                <a:latin typeface="Times New Roman" panose="02020603050405020304" pitchFamily="18" charset="0"/>
                <a:ea typeface="Times New Roman" panose="02020603050405020304" pitchFamily="18" charset="0"/>
              </a:rPr>
              <a:t>SMG9</a:t>
            </a:r>
            <a:r>
              <a:rPr lang="en-US" sz="1400" dirty="0">
                <a:latin typeface="Times New Roman" panose="02020603050405020304" pitchFamily="18" charset="0"/>
                <a:ea typeface="Times New Roman" panose="02020603050405020304" pitchFamily="18" charset="0"/>
              </a:rPr>
              <a:t>, a conserved component of the </a:t>
            </a:r>
            <a:r>
              <a:rPr lang="en-US" sz="1400" b="1" dirty="0">
                <a:latin typeface="Times New Roman" panose="02020603050405020304" pitchFamily="18" charset="0"/>
                <a:ea typeface="Times New Roman" panose="02020603050405020304" pitchFamily="18" charset="0"/>
              </a:rPr>
              <a:t>nonsense-mediated mRNA decay (NMD) pathway</a:t>
            </a:r>
            <a:r>
              <a:rPr lang="en-US" sz="1400" dirty="0">
                <a:latin typeface="Times New Roman" panose="02020603050405020304" pitchFamily="18" charset="0"/>
                <a:ea typeface="Times New Roman" panose="02020603050405020304" pitchFamily="18" charset="0"/>
              </a:rPr>
              <a:t>.</a:t>
            </a:r>
          </a:p>
          <a:p>
            <a:pPr marL="242516" indent="-242516" algn="just">
              <a:buSzPts val="1000"/>
              <a:buFont typeface="Symbol" panose="05050102010706020507" pitchFamily="18" charset="2"/>
              <a:buChar char=""/>
              <a:tabLst>
                <a:tab pos="323355" algn="l"/>
              </a:tabLst>
            </a:pPr>
            <a:r>
              <a:rPr lang="en-US" sz="1400" dirty="0">
                <a:latin typeface="Times New Roman" panose="02020603050405020304" pitchFamily="18" charset="0"/>
                <a:ea typeface="Times New Roman" panose="02020603050405020304" pitchFamily="18" charset="0"/>
              </a:rPr>
              <a:t>The </a:t>
            </a:r>
            <a:r>
              <a:rPr lang="en-US" sz="1400" dirty="0" err="1">
                <a:latin typeface="Times New Roman" panose="02020603050405020304" pitchFamily="18" charset="0"/>
                <a:ea typeface="Times New Roman" panose="02020603050405020304" pitchFamily="18" charset="0"/>
              </a:rPr>
              <a:t>BLASTp</a:t>
            </a:r>
            <a:r>
              <a:rPr lang="en-US" sz="1400" dirty="0">
                <a:latin typeface="Times New Roman" panose="02020603050405020304" pitchFamily="18" charset="0"/>
                <a:ea typeface="Times New Roman" panose="02020603050405020304" pitchFamily="18" charset="0"/>
              </a:rPr>
              <a:t> results validate that the identified ORF represents a </a:t>
            </a:r>
            <a:r>
              <a:rPr lang="en-US" sz="1400" b="1" dirty="0">
                <a:latin typeface="Times New Roman" panose="02020603050405020304" pitchFamily="18" charset="0"/>
                <a:ea typeface="Times New Roman" panose="02020603050405020304" pitchFamily="18" charset="0"/>
              </a:rPr>
              <a:t>true protein-coding region</a:t>
            </a:r>
            <a:r>
              <a:rPr lang="en-US" sz="1400" dirty="0">
                <a:latin typeface="Times New Roman" panose="02020603050405020304" pitchFamily="18" charset="0"/>
                <a:ea typeface="Times New Roman" panose="02020603050405020304" pitchFamily="18" charset="0"/>
              </a:rPr>
              <a:t> rather than a spurious ORF</a:t>
            </a:r>
          </a:p>
        </p:txBody>
      </p:sp>
      <p:pic>
        <p:nvPicPr>
          <p:cNvPr id="20" name="Picture 19" descr="C:\Users\Mooti\Desktop\4.png"/>
          <p:cNvPicPr/>
          <p:nvPr/>
        </p:nvPicPr>
        <p:blipFill>
          <a:blip r:embed="rId4">
            <a:extLst>
              <a:ext uri="{28A0092B-C50C-407E-A947-70E740481C1C}">
                <a14:useLocalDpi xmlns:a14="http://schemas.microsoft.com/office/drawing/2010/main" val="0"/>
              </a:ext>
            </a:extLst>
          </a:blip>
          <a:srcRect/>
          <a:stretch>
            <a:fillRect/>
          </a:stretch>
        </p:blipFill>
        <p:spPr bwMode="auto">
          <a:xfrm>
            <a:off x="778241" y="20435647"/>
            <a:ext cx="8273640" cy="2638235"/>
          </a:xfrm>
          <a:prstGeom prst="rect">
            <a:avLst/>
          </a:prstGeom>
          <a:noFill/>
          <a:ln>
            <a:noFill/>
          </a:ln>
        </p:spPr>
      </p:pic>
      <p:sp>
        <p:nvSpPr>
          <p:cNvPr id="23" name="Rectangle 22"/>
          <p:cNvSpPr/>
          <p:nvPr/>
        </p:nvSpPr>
        <p:spPr>
          <a:xfrm>
            <a:off x="600604" y="23428144"/>
            <a:ext cx="8292530" cy="461665"/>
          </a:xfrm>
          <a:prstGeom prst="rect">
            <a:avLst/>
          </a:prstGeom>
        </p:spPr>
        <p:txBody>
          <a:bodyPr wrap="square">
            <a:spAutoFit/>
          </a:bodyPr>
          <a:lstStyle/>
          <a:p>
            <a:pPr lvl="0" algn="ctr"/>
            <a:r>
              <a:rPr lang="en-US" sz="2400" b="1" dirty="0" smtClean="0">
                <a:effectLst/>
                <a:latin typeface="Times New Roman" panose="02020603050405020304" pitchFamily="18" charset="0"/>
                <a:ea typeface="Times New Roman" panose="02020603050405020304" pitchFamily="18" charset="0"/>
              </a:rPr>
              <a:t>GC Content Analysis</a:t>
            </a:r>
            <a:endParaRPr lang="en-US" sz="2400" b="1" dirty="0">
              <a:effectLst/>
              <a:latin typeface="Times New Roman" panose="02020603050405020304" pitchFamily="18" charset="0"/>
              <a:ea typeface="Times New Roman" panose="02020603050405020304" pitchFamily="18" charset="0"/>
            </a:endParaRPr>
          </a:p>
        </p:txBody>
      </p:sp>
      <p:pic>
        <p:nvPicPr>
          <p:cNvPr id="24" name="Picture 23" descr="C:\Users\Mooti\Desktop\5.png"/>
          <p:cNvPicPr/>
          <p:nvPr/>
        </p:nvPicPr>
        <p:blipFill>
          <a:blip r:embed="rId5">
            <a:extLst>
              <a:ext uri="{28A0092B-C50C-407E-A947-70E740481C1C}">
                <a14:useLocalDpi xmlns:a14="http://schemas.microsoft.com/office/drawing/2010/main" val="0"/>
              </a:ext>
            </a:extLst>
          </a:blip>
          <a:srcRect/>
          <a:stretch>
            <a:fillRect/>
          </a:stretch>
        </p:blipFill>
        <p:spPr bwMode="auto">
          <a:xfrm>
            <a:off x="1016788" y="24113668"/>
            <a:ext cx="8024135" cy="2927739"/>
          </a:xfrm>
          <a:prstGeom prst="rect">
            <a:avLst/>
          </a:prstGeom>
          <a:noFill/>
          <a:ln>
            <a:noFill/>
          </a:ln>
        </p:spPr>
      </p:pic>
      <p:sp>
        <p:nvSpPr>
          <p:cNvPr id="26" name="Rectangle 25"/>
          <p:cNvSpPr/>
          <p:nvPr/>
        </p:nvSpPr>
        <p:spPr>
          <a:xfrm>
            <a:off x="10761539" y="4939806"/>
            <a:ext cx="8342876" cy="1662566"/>
          </a:xfrm>
          <a:prstGeom prst="rect">
            <a:avLst/>
          </a:prstGeom>
          <a:noFill/>
          <a:ln w="19050" cmpd="sng">
            <a:solidFill>
              <a:schemeClr val="accent1">
                <a:shade val="50000"/>
              </a:schemeClr>
            </a:solid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673" tIns="32337" rIns="64673" bIns="32337" numCol="1" spcCol="0" rtlCol="0" fromWordArt="0" anchor="ctr" anchorCtr="0" forceAA="0" compatLnSpc="1">
            <a:prstTxWarp prst="textNoShape">
              <a:avLst/>
            </a:prstTxWarp>
            <a:noAutofit/>
          </a:bodyPr>
          <a:lstStyle/>
          <a:p>
            <a:pPr algn="ctr"/>
            <a:endParaRPr lang="en-US" sz="5813"/>
          </a:p>
        </p:txBody>
      </p:sp>
      <p:sp>
        <p:nvSpPr>
          <p:cNvPr id="27" name="Rectangle 26"/>
          <p:cNvSpPr/>
          <p:nvPr/>
        </p:nvSpPr>
        <p:spPr>
          <a:xfrm>
            <a:off x="9894688" y="5366372"/>
            <a:ext cx="9813987" cy="1107996"/>
          </a:xfrm>
          <a:prstGeom prst="rect">
            <a:avLst/>
          </a:prstGeom>
        </p:spPr>
        <p:txBody>
          <a:bodyPr wrap="square">
            <a:spAutoFit/>
          </a:bodyPr>
          <a:lstStyle/>
          <a:p>
            <a:pPr algn="ctr"/>
            <a:r>
              <a:rPr lang="en-US" sz="6600" b="1" dirty="0">
                <a:latin typeface="Arial Black" panose="020B0A04020102020204" pitchFamily="34" charset="0"/>
                <a:ea typeface="Calibri" panose="020F0502020204030204" pitchFamily="34" charset="0"/>
              </a:rPr>
              <a:t>RNA Analysis</a:t>
            </a:r>
            <a:endParaRPr lang="en-US" sz="6600" dirty="0">
              <a:latin typeface="Arial Black" panose="020B0A04020102020204" pitchFamily="34" charset="0"/>
            </a:endParaRPr>
          </a:p>
        </p:txBody>
      </p:sp>
      <p:pic>
        <p:nvPicPr>
          <p:cNvPr id="28" name="Picture 27"/>
          <p:cNvPicPr>
            <a:picLocks noChangeAspect="1"/>
          </p:cNvPicPr>
          <p:nvPr/>
        </p:nvPicPr>
        <p:blipFill>
          <a:blip r:embed="rId6"/>
          <a:stretch>
            <a:fillRect/>
          </a:stretch>
        </p:blipFill>
        <p:spPr>
          <a:xfrm>
            <a:off x="10761540" y="6939390"/>
            <a:ext cx="8342875" cy="2807278"/>
          </a:xfrm>
          <a:prstGeom prst="rect">
            <a:avLst/>
          </a:prstGeom>
        </p:spPr>
      </p:pic>
      <p:sp>
        <p:nvSpPr>
          <p:cNvPr id="29" name="Rectangle 28"/>
          <p:cNvSpPr/>
          <p:nvPr/>
        </p:nvSpPr>
        <p:spPr>
          <a:xfrm>
            <a:off x="10819884" y="10083686"/>
            <a:ext cx="8226186" cy="1569660"/>
          </a:xfrm>
          <a:prstGeom prst="rect">
            <a:avLst/>
          </a:prstGeom>
        </p:spPr>
        <p:txBody>
          <a:bodyPr wrap="square">
            <a:spAutoFit/>
          </a:bodyPr>
          <a:lstStyle/>
          <a:p>
            <a:r>
              <a:rPr lang="en-US" sz="1200" dirty="0" smtClean="0">
                <a:effectLst/>
                <a:latin typeface="Calibri" panose="020F0502020204030204" pitchFamily="34" charset="0"/>
                <a:ea typeface="Calibri" panose="020F0502020204030204" pitchFamily="34" charset="0"/>
                <a:cs typeface="Arial" panose="020B0604020202020204" pitchFamily="34" charset="0"/>
              </a:rPr>
              <a:t>The 5′ UTR is likely </a:t>
            </a:r>
            <a:r>
              <a:rPr lang="en-US" sz="1200" b="1" dirty="0" smtClean="0">
                <a:effectLst/>
                <a:latin typeface="Calibri" panose="020F0502020204030204" pitchFamily="34" charset="0"/>
                <a:ea typeface="Calibri" panose="020F0502020204030204" pitchFamily="34" charset="0"/>
                <a:cs typeface="Arial" panose="020B0604020202020204" pitchFamily="34" charset="0"/>
              </a:rPr>
              <a:t>regulatory</a:t>
            </a:r>
            <a:r>
              <a:rPr lang="en-US" sz="1200" dirty="0" smtClean="0">
                <a:effectLst/>
                <a:latin typeface="Calibri" panose="020F0502020204030204" pitchFamily="34" charset="0"/>
                <a:ea typeface="Calibri" panose="020F0502020204030204" pitchFamily="34" charset="0"/>
                <a:cs typeface="Arial" panose="020B0604020202020204" pitchFamily="34" charset="0"/>
              </a:rPr>
              <a:t>, influencing ribosome scanning and </a:t>
            </a:r>
            <a:r>
              <a:rPr lang="en-US" sz="1200" dirty="0" smtClean="0">
                <a:effectLst/>
                <a:latin typeface="Calibri" panose="020F0502020204030204" pitchFamily="34" charset="0"/>
                <a:ea typeface="Calibri" panose="020F0502020204030204" pitchFamily="34" charset="0"/>
                <a:cs typeface="Arial" panose="020B0604020202020204" pitchFamily="34" charset="0"/>
              </a:rPr>
              <a:t>translation efficiency rather than blocking translation. </a:t>
            </a:r>
          </a:p>
          <a:p>
            <a:pPr lvl="0"/>
            <a:r>
              <a:rPr lang="en-US" sz="1200" b="1" dirty="0" smtClean="0"/>
              <a:t>Functional but moderate-strength </a:t>
            </a:r>
            <a:r>
              <a:rPr lang="en-US" sz="1200" b="1" dirty="0" err="1" smtClean="0"/>
              <a:t>Kozak</a:t>
            </a:r>
            <a:r>
              <a:rPr lang="en-US" sz="1200" b="1" dirty="0" smtClean="0"/>
              <a:t> sequence</a:t>
            </a:r>
            <a:endParaRPr lang="en-US" sz="1200" dirty="0" smtClean="0"/>
          </a:p>
          <a:p>
            <a:r>
              <a:rPr lang="en-US" sz="1200" b="1" dirty="0" smtClean="0"/>
              <a:t>Functional </a:t>
            </a:r>
            <a:r>
              <a:rPr lang="en-US" sz="1200" b="1" dirty="0"/>
              <a:t>non-canonical </a:t>
            </a:r>
            <a:r>
              <a:rPr lang="en-US" sz="1200" b="1" dirty="0" err="1"/>
              <a:t>polyA</a:t>
            </a:r>
            <a:r>
              <a:rPr lang="en-US" sz="1200" b="1" dirty="0"/>
              <a:t> signals present</a:t>
            </a:r>
            <a:r>
              <a:rPr lang="en-US" sz="1200" dirty="0"/>
              <a:t>, common in GC-rich genes</a:t>
            </a:r>
            <a:r>
              <a:rPr lang="en-US" sz="1200" dirty="0" smtClean="0"/>
              <a:t>.</a:t>
            </a:r>
          </a:p>
          <a:p>
            <a:pPr algn="ctr"/>
            <a:r>
              <a:rPr lang="en-US" sz="1200" b="1" dirty="0" err="1" smtClean="0"/>
              <a:t>RNAfold</a:t>
            </a:r>
            <a:r>
              <a:rPr lang="en-US" sz="1200" b="1" dirty="0" smtClean="0"/>
              <a:t> </a:t>
            </a:r>
            <a:r>
              <a:rPr lang="en-US" sz="1200" b="1" dirty="0"/>
              <a:t>Structure </a:t>
            </a:r>
          </a:p>
          <a:p>
            <a:pPr marL="571500" lvl="0" indent="-571500">
              <a:buFont typeface="Arial" panose="020B0604020202020204" pitchFamily="34" charset="0"/>
              <a:buChar char="•"/>
            </a:pPr>
            <a:endParaRPr lang="en-US" sz="1200" dirty="0"/>
          </a:p>
          <a:p>
            <a:r>
              <a:rPr lang="en-US" sz="1200" dirty="0" err="1"/>
              <a:t>RNAfold</a:t>
            </a:r>
            <a:r>
              <a:rPr lang="en-US" sz="1200" dirty="0"/>
              <a:t> analysis predicts a highly stable mRNA secondary structure with extensive stem-loop formations, particularly within the GC-rich 5′ untranslated region. The strongly negative minimum free energy indicates thermodynamic stability and resistance to degradation.</a:t>
            </a:r>
            <a:endParaRPr lang="en-US" sz="1200" dirty="0"/>
          </a:p>
        </p:txBody>
      </p:sp>
      <p:sp>
        <p:nvSpPr>
          <p:cNvPr id="31" name="Rectangle 5"/>
          <p:cNvSpPr>
            <a:spLocks noChangeArrowheads="1"/>
          </p:cNvSpPr>
          <p:nvPr/>
        </p:nvSpPr>
        <p:spPr bwMode="auto">
          <a:xfrm>
            <a:off x="0" y="0"/>
            <a:ext cx="302672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tabLst>
                <a:tab pos="457200" algn="l"/>
              </a:tabLst>
              <a:defRPr>
                <a:solidFill>
                  <a:schemeClr val="tx1"/>
                </a:solidFill>
                <a:latin typeface="Arial" panose="020B0604020202020204" pitchFamily="34" charset="0"/>
              </a:defRPr>
            </a:lvl1pPr>
            <a:lvl2pPr marL="457200" eaLnBrk="0" fontAlgn="base" hangingPunct="0">
              <a:spcBef>
                <a:spcPct val="0"/>
              </a:spcBef>
              <a:spcAft>
                <a:spcPct val="0"/>
              </a:spcAft>
              <a:tabLst>
                <a:tab pos="457200" algn="l"/>
              </a:tabLst>
              <a:defRPr>
                <a:solidFill>
                  <a:schemeClr val="tx1"/>
                </a:solidFill>
                <a:latin typeface="Arial" panose="020B0604020202020204" pitchFamily="34" charset="0"/>
              </a:defRPr>
            </a:lvl2pPr>
            <a:lvl3pPr marL="914400" eaLnBrk="0" fontAlgn="base" hangingPunct="0">
              <a:spcBef>
                <a:spcPct val="0"/>
              </a:spcBef>
              <a:spcAft>
                <a:spcPct val="0"/>
              </a:spcAft>
              <a:tabLst>
                <a:tab pos="457200" algn="l"/>
              </a:tabLst>
              <a:defRPr>
                <a:solidFill>
                  <a:schemeClr val="tx1"/>
                </a:solidFill>
                <a:latin typeface="Arial" panose="020B0604020202020204" pitchFamily="34" charset="0"/>
              </a:defRPr>
            </a:lvl3pPr>
            <a:lvl4pPr marL="1371600" eaLnBrk="0" fontAlgn="base" hangingPunct="0">
              <a:spcBef>
                <a:spcPct val="0"/>
              </a:spcBef>
              <a:spcAft>
                <a:spcPct val="0"/>
              </a:spcAft>
              <a:tabLst>
                <a:tab pos="457200" algn="l"/>
              </a:tabLst>
              <a:defRPr>
                <a:solidFill>
                  <a:schemeClr val="tx1"/>
                </a:solidFill>
                <a:latin typeface="Arial" panose="020B0604020202020204" pitchFamily="34" charset="0"/>
              </a:defRPr>
            </a:lvl4pPr>
            <a:lvl5pPr marL="1828800" eaLnBrk="0" fontAlgn="base" hangingPunct="0">
              <a:spcBef>
                <a:spcPct val="0"/>
              </a:spcBef>
              <a:spcAft>
                <a:spcPct val="0"/>
              </a:spcAft>
              <a:tabLst>
                <a:tab pos="457200" algn="l"/>
              </a:tabLst>
              <a:defRPr>
                <a:solidFill>
                  <a:schemeClr val="tx1"/>
                </a:solidFill>
                <a:latin typeface="Arial" panose="020B0604020202020204" pitchFamily="34" charset="0"/>
              </a:defRPr>
            </a:lvl5pPr>
            <a:lvl6pPr marL="2286000" eaLnBrk="0" fontAlgn="base" hangingPunct="0">
              <a:spcBef>
                <a:spcPct val="0"/>
              </a:spcBef>
              <a:spcAft>
                <a:spcPct val="0"/>
              </a:spcAft>
              <a:tabLst>
                <a:tab pos="457200" algn="l"/>
              </a:tabLst>
              <a:defRPr>
                <a:solidFill>
                  <a:schemeClr val="tx1"/>
                </a:solidFill>
                <a:latin typeface="Arial" panose="020B0604020202020204" pitchFamily="34" charset="0"/>
              </a:defRPr>
            </a:lvl6pPr>
            <a:lvl7pPr marL="2743200" eaLnBrk="0" fontAlgn="base" hangingPunct="0">
              <a:spcBef>
                <a:spcPct val="0"/>
              </a:spcBef>
              <a:spcAft>
                <a:spcPct val="0"/>
              </a:spcAft>
              <a:tabLst>
                <a:tab pos="457200" algn="l"/>
              </a:tabLst>
              <a:defRPr>
                <a:solidFill>
                  <a:schemeClr val="tx1"/>
                </a:solidFill>
                <a:latin typeface="Arial" panose="020B0604020202020204" pitchFamily="34" charset="0"/>
              </a:defRPr>
            </a:lvl7pPr>
            <a:lvl8pPr marL="3200400" eaLnBrk="0" fontAlgn="base" hangingPunct="0">
              <a:spcBef>
                <a:spcPct val="0"/>
              </a:spcBef>
              <a:spcAft>
                <a:spcPct val="0"/>
              </a:spcAft>
              <a:tabLst>
                <a:tab pos="457200" algn="l"/>
              </a:tabLst>
              <a:defRPr>
                <a:solidFill>
                  <a:schemeClr val="tx1"/>
                </a:solidFill>
                <a:latin typeface="Arial" panose="020B0604020202020204" pitchFamily="34" charset="0"/>
              </a:defRPr>
            </a:lvl8pPr>
            <a:lvl9pPr marL="3657600" eaLnBrk="0" fontAlgn="base" hangingPunct="0">
              <a:spcBef>
                <a:spcPct val="0"/>
              </a:spcBef>
              <a:spcAft>
                <a:spcPct val="0"/>
              </a:spcAft>
              <a:tabLst>
                <a:tab pos="4572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457200" algn="l"/>
              </a:tabLst>
            </a:pPr>
            <a:r>
              <a:rPr kumimoji="0" lang="en-US" sz="1300" b="0" i="0" u="none" strike="noStrike" cap="none" normalizeH="0" baseline="0" smtClean="0">
                <a:ln>
                  <a:noFill/>
                </a:ln>
                <a:solidFill>
                  <a:srgbClr val="2E74B5"/>
                </a:solidFill>
                <a:effectLst/>
                <a:latin typeface="Calibri Light" panose="020F0302020204030204" pitchFamily="34" charset="0"/>
                <a:ea typeface="Times New Roman" panose="02020603050405020304" pitchFamily="18" charset="0"/>
                <a:cs typeface="Times New Roman" panose="02020603050405020304" pitchFamily="18" charset="0"/>
              </a:rPr>
              <a:t>Polyadenylation Signal Identification</a:t>
            </a:r>
          </a:p>
          <a:p>
            <a:pPr marL="0" marR="0" lvl="0" indent="0" algn="l" defTabSz="914400" rtl="0" eaLnBrk="0" fontAlgn="base" latinLnBrk="0" hangingPunct="0">
              <a:lnSpc>
                <a:spcPct val="100000"/>
              </a:lnSpc>
              <a:spcBef>
                <a:spcPct val="0"/>
              </a:spcBef>
              <a:spcAft>
                <a:spcPct val="0"/>
              </a:spcAft>
              <a:buClrTx/>
              <a:buSzTx/>
              <a:buFontTx/>
              <a:buNone/>
              <a:tabLst>
                <a:tab pos="457200" algn="l"/>
              </a:tabLst>
            </a:pPr>
            <a:r>
              <a:rPr kumimoji="0" lang="en-US" sz="1300" b="1" i="0" u="none" strike="noStrike" cap="none" normalizeH="0" baseline="0" smtClean="0">
                <a:ln>
                  <a:noFill/>
                </a:ln>
                <a:solidFill>
                  <a:schemeClr val="tx1"/>
                </a:solidFill>
                <a:effectLst/>
                <a:ea typeface="Times New Roman" panose="02020603050405020304" pitchFamily="18" charset="0"/>
              </a:rPr>
              <a:t>Canonical signal</a:t>
            </a:r>
            <a:endParaRPr kumimoji="0" lang="en-US" sz="1300" b="1" i="0" u="none" strike="noStrike" cap="none" normalizeH="0" baseline="0" smtClean="0">
              <a:ln>
                <a:noFill/>
              </a:ln>
              <a:solidFill>
                <a:schemeClr val="tx1"/>
              </a:solidFill>
              <a:effectLst/>
              <a:latin typeface="Arial" panose="020B0604020202020204" pitchFamily="34" charset="0"/>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457200" algn="l"/>
              </a:tabLst>
            </a:pPr>
            <a:r>
              <a:rPr kumimoji="0" lang="en-US" sz="1000" b="0" i="0" u="none" strike="noStrike" cap="none" normalizeH="0" baseline="0" smtClean="0">
                <a:ln>
                  <a:noFill/>
                </a:ln>
                <a:solidFill>
                  <a:schemeClr val="tx1"/>
                </a:solidFill>
                <a:effectLst/>
                <a:latin typeface="Arial Unicode MS" panose="020B0604020202020204" pitchFamily="34" charset="-128"/>
                <a:ea typeface="Times New Roman" panose="02020603050405020304" pitchFamily="18" charset="0"/>
                <a:cs typeface="Courier New" panose="02070309020205020404" pitchFamily="49" charset="0"/>
              </a:rPr>
              <a:t>AAUAAA</a:t>
            </a:r>
            <a:r>
              <a:rPr kumimoji="0" lang="en-US" sz="2700" b="0" i="0" u="none" strike="noStrike" cap="none" normalizeH="0" baseline="0" smtClean="0">
                <a:ln>
                  <a:noFill/>
                </a:ln>
                <a:solidFill>
                  <a:schemeClr val="tx1"/>
                </a:solidFill>
                <a:effectLst/>
              </a:rPr>
              <a:t> </a:t>
            </a:r>
            <a:endParaRPr kumimoji="0" lang="en-US" sz="1300" b="1" i="0" u="none" strike="noStrike" cap="none" normalizeH="0" baseline="0" smtClean="0">
              <a:ln>
                <a:noFill/>
              </a:ln>
              <a:solidFill>
                <a:schemeClr val="tx1"/>
              </a:solidFill>
              <a:effectLst/>
              <a:latin typeface="Arial" panose="020B0604020202020204" pitchFamily="34" charset="0"/>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457200" algn="l"/>
              </a:tabLst>
            </a:pPr>
            <a:r>
              <a:rPr kumimoji="0" lang="en-US" sz="1300" b="1" i="0" u="none" strike="noStrike" cap="none" normalizeH="0" baseline="0" smtClean="0">
                <a:ln>
                  <a:noFill/>
                </a:ln>
                <a:solidFill>
                  <a:schemeClr val="tx1"/>
                </a:solidFill>
                <a:effectLst/>
                <a:latin typeface="Arial" panose="020B0604020202020204" pitchFamily="34" charset="0"/>
                <a:ea typeface="Times New Roman" panose="02020603050405020304" pitchFamily="18" charset="0"/>
              </a:rPr>
              <a:t>Observed</a:t>
            </a:r>
          </a:p>
          <a:p>
            <a:pPr marL="0" marR="0" lvl="0" indent="0" algn="l" defTabSz="914400" rtl="0" eaLnBrk="0" fontAlgn="base" latinLnBrk="0" hangingPunct="0">
              <a:lnSpc>
                <a:spcPct val="100000"/>
              </a:lnSpc>
              <a:spcBef>
                <a:spcPct val="0"/>
              </a:spcBef>
              <a:spcAft>
                <a:spcPct val="0"/>
              </a:spcAft>
              <a:buClrTx/>
              <a:buSzTx/>
              <a:buFontTx/>
              <a:buChar char="•"/>
              <a:tabLst>
                <a:tab pos="457200" algn="l"/>
              </a:tabLst>
            </a:pPr>
            <a:r>
              <a:rPr kumimoji="0" lang="en-US" sz="1200" b="0" i="0" u="none" strike="noStrike" cap="none" normalizeH="0" baseline="0" smtClean="0">
                <a:ln>
                  <a:noFill/>
                </a:ln>
                <a:solidFill>
                  <a:schemeClr val="tx1"/>
                </a:solidFill>
                <a:effectLst/>
                <a:latin typeface="Arial" panose="020B0604020202020204" pitchFamily="34" charset="0"/>
                <a:ea typeface="Times New Roman" panose="02020603050405020304" pitchFamily="18" charset="0"/>
              </a:rPr>
              <a:t>Non-canonical variants detected:</a:t>
            </a:r>
            <a:endParaRPr kumimoji="0" lang="en-US" sz="2700" b="0" i="0" u="none" strike="noStrike" cap="none" normalizeH="0" baseline="0" smtClean="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 typeface="Symbol" panose="05050102010706020507" pitchFamily="18" charset="2"/>
              <a:buChar char=""/>
              <a:tabLst>
                <a:tab pos="457200" algn="l"/>
              </a:tabLst>
            </a:pPr>
            <a:r>
              <a:rPr kumimoji="0" lang="en-US" sz="1200" b="0" i="0" u="none" strike="noStrike" cap="none" normalizeH="0" baseline="0" smtClean="0">
                <a:ln>
                  <a:noFill/>
                </a:ln>
                <a:solidFill>
                  <a:schemeClr val="tx1"/>
                </a:solidFill>
                <a:effectLst/>
                <a:latin typeface="Arial" panose="020B0604020202020204" pitchFamily="34" charset="0"/>
                <a:ea typeface="Times New Roman" panose="02020603050405020304" pitchFamily="18" charset="0"/>
              </a:rPr>
              <a:t>AUUAAA</a:t>
            </a:r>
          </a:p>
          <a:p>
            <a:pPr marL="457200" marR="0" lvl="1" indent="0" algn="l" defTabSz="914400" rtl="0" eaLnBrk="0" fontAlgn="base" latinLnBrk="0" hangingPunct="0">
              <a:lnSpc>
                <a:spcPct val="100000"/>
              </a:lnSpc>
              <a:spcBef>
                <a:spcPct val="0"/>
              </a:spcBef>
              <a:spcAft>
                <a:spcPct val="0"/>
              </a:spcAft>
              <a:buClrTx/>
              <a:buSzTx/>
              <a:buFont typeface="Symbol" panose="05050102010706020507" pitchFamily="18" charset="2"/>
              <a:buChar char=""/>
              <a:tabLst>
                <a:tab pos="457200" algn="l"/>
              </a:tabLst>
            </a:pPr>
            <a:r>
              <a:rPr kumimoji="0" lang="en-US" sz="1200" b="0" i="0" u="none" strike="noStrike" cap="none" normalizeH="0" baseline="0" smtClean="0">
                <a:ln>
                  <a:noFill/>
                </a:ln>
                <a:solidFill>
                  <a:schemeClr val="tx1"/>
                </a:solidFill>
                <a:effectLst/>
                <a:latin typeface="Arial" panose="020B0604020202020204" pitchFamily="34" charset="0"/>
                <a:ea typeface="Times New Roman" panose="02020603050405020304" pitchFamily="18" charset="0"/>
              </a:rPr>
              <a:t>AAUAUA</a:t>
            </a:r>
          </a:p>
          <a:p>
            <a:pPr marL="0" marR="0" lvl="0" indent="0" algn="l" defTabSz="914400" rtl="0" eaLnBrk="0" fontAlgn="base" latinLnBrk="0" hangingPunct="0">
              <a:lnSpc>
                <a:spcPct val="100000"/>
              </a:lnSpc>
              <a:spcBef>
                <a:spcPct val="0"/>
              </a:spcBef>
              <a:spcAft>
                <a:spcPct val="0"/>
              </a:spcAft>
              <a:buClrTx/>
              <a:buSzTx/>
              <a:buFontTx/>
              <a:buChar char="•"/>
              <a:tabLst>
                <a:tab pos="457200" algn="l"/>
              </a:tabLst>
            </a:pPr>
            <a:r>
              <a:rPr kumimoji="0" lang="en-US" sz="1200" b="0" i="0" u="none" strike="noStrike" cap="none" normalizeH="0" baseline="0" smtClean="0">
                <a:ln>
                  <a:noFill/>
                </a:ln>
                <a:solidFill>
                  <a:schemeClr val="tx1"/>
                </a:solidFill>
                <a:effectLst/>
                <a:latin typeface="Arial" panose="020B0604020202020204" pitchFamily="34" charset="0"/>
                <a:ea typeface="Times New Roman" panose="02020603050405020304" pitchFamily="18" charset="0"/>
              </a:rPr>
              <a:t>Located upstream of AU-rich 3′ end</a:t>
            </a:r>
          </a:p>
          <a:p>
            <a:pPr marL="0" marR="0" lvl="0" indent="0" algn="l" defTabSz="914400" rtl="0" eaLnBrk="0" fontAlgn="base" latinLnBrk="0" hangingPunct="0">
              <a:lnSpc>
                <a:spcPct val="100000"/>
              </a:lnSpc>
              <a:spcBef>
                <a:spcPct val="0"/>
              </a:spcBef>
              <a:spcAft>
                <a:spcPct val="0"/>
              </a:spcAft>
              <a:buClrTx/>
              <a:buSzTx/>
              <a:buFontTx/>
              <a:buNone/>
              <a:tabLst>
                <a:tab pos="457200" algn="l"/>
              </a:tabLst>
            </a:pPr>
            <a:r>
              <a:rPr kumimoji="0" lang="en-US" sz="1200" b="1" i="0" u="none" strike="noStrike" cap="none" normalizeH="0" baseline="0" smtClean="0">
                <a:ln>
                  <a:noFill/>
                </a:ln>
                <a:solidFill>
                  <a:schemeClr val="tx1"/>
                </a:solidFill>
                <a:effectLst/>
                <a:latin typeface="Arial" panose="020B0604020202020204" pitchFamily="34" charset="0"/>
                <a:ea typeface="Times New Roman" panose="02020603050405020304" pitchFamily="18" charset="0"/>
              </a:rPr>
              <a:t>Conclusion:</a:t>
            </a:r>
            <a:r>
              <a:rPr kumimoji="0" lang="en-US" sz="1200" b="0" i="0" u="none" strike="noStrike" cap="none" normalizeH="0" baseline="0" smtClean="0">
                <a:ln>
                  <a:noFill/>
                </a:ln>
                <a:solidFill>
                  <a:schemeClr val="tx1"/>
                </a:solidFill>
                <a:effectLst/>
                <a:latin typeface="Arial" panose="020B0604020202020204" pitchFamily="34" charset="0"/>
                <a:ea typeface="Times New Roman" panose="02020603050405020304" pitchFamily="18" charset="0"/>
              </a:rPr>
              <a:t/>
            </a:r>
            <a:br>
              <a:rPr kumimoji="0" lang="en-US" sz="1200" b="0" i="0" u="none" strike="noStrike" cap="none" normalizeH="0" baseline="0" smtClean="0">
                <a:ln>
                  <a:noFill/>
                </a:ln>
                <a:solidFill>
                  <a:schemeClr val="tx1"/>
                </a:solidFill>
                <a:effectLst/>
                <a:latin typeface="Arial" panose="020B0604020202020204" pitchFamily="34" charset="0"/>
                <a:ea typeface="Times New Roman" panose="02020603050405020304" pitchFamily="18" charset="0"/>
              </a:rPr>
            </a:br>
            <a:r>
              <a:rPr kumimoji="0" lang="en-US" sz="1200" b="0" i="0" u="none" strike="noStrike" cap="none" normalizeH="0" baseline="0" smtClean="0">
                <a:ln>
                  <a:noFill/>
                </a:ln>
                <a:solidFill>
                  <a:schemeClr val="tx1"/>
                </a:solidFill>
                <a:effectLst/>
                <a:latin typeface="Arial" panose="020B0604020202020204" pitchFamily="34" charset="0"/>
                <a:ea typeface="Times New Roman" panose="02020603050405020304" pitchFamily="18" charset="0"/>
                <a:cs typeface="Segoe UI Symbol" panose="020B0502040204020203" pitchFamily="34" charset="0"/>
              </a:rPr>
              <a:t>✔</a:t>
            </a:r>
            <a:r>
              <a:rPr kumimoji="0" lang="en-US" sz="1200" b="0" i="0" u="none" strike="noStrike" cap="none" normalizeH="0" baseline="0" smtClean="0">
                <a:ln>
                  <a:noFill/>
                </a:ln>
                <a:solidFill>
                  <a:schemeClr val="tx1"/>
                </a:solidFill>
                <a:effectLst/>
                <a:latin typeface="Arial" panose="020B0604020202020204" pitchFamily="34" charset="0"/>
                <a:ea typeface="Times New Roman" panose="02020603050405020304" pitchFamily="18" charset="0"/>
              </a:rPr>
              <a:t> </a:t>
            </a:r>
            <a:r>
              <a:rPr kumimoji="0" lang="en-US" sz="1200" b="1" i="0" u="none" strike="noStrike" cap="none" normalizeH="0" baseline="0" smtClean="0">
                <a:ln>
                  <a:noFill/>
                </a:ln>
                <a:solidFill>
                  <a:schemeClr val="tx1"/>
                </a:solidFill>
                <a:effectLst/>
                <a:latin typeface="Arial" panose="020B0604020202020204" pitchFamily="34" charset="0"/>
                <a:ea typeface="Times New Roman" panose="02020603050405020304" pitchFamily="18" charset="0"/>
              </a:rPr>
              <a:t>Functional non-canonical polyA signals present</a:t>
            </a:r>
            <a:r>
              <a:rPr kumimoji="0" lang="en-US" sz="1200" b="0" i="0" u="none" strike="noStrike" cap="none" normalizeH="0" baseline="0" smtClean="0">
                <a:ln>
                  <a:noFill/>
                </a:ln>
                <a:solidFill>
                  <a:schemeClr val="tx1"/>
                </a:solidFill>
                <a:effectLst/>
                <a:latin typeface="Arial" panose="020B0604020202020204" pitchFamily="34" charset="0"/>
                <a:ea typeface="Times New Roman" panose="02020603050405020304" pitchFamily="18" charset="0"/>
              </a:rPr>
              <a:t>, common in GC-rich genes.</a:t>
            </a:r>
            <a:endParaRPr kumimoji="0" lang="en-US" sz="1800" b="0" i="0" u="none" strike="noStrike" cap="none" normalizeH="0" baseline="0" smtClean="0">
              <a:ln>
                <a:noFill/>
              </a:ln>
              <a:solidFill>
                <a:schemeClr val="tx1"/>
              </a:solidFill>
              <a:effectLst/>
              <a:latin typeface="Arial" panose="020B0604020202020204" pitchFamily="34" charset="0"/>
            </a:endParaRPr>
          </a:p>
        </p:txBody>
      </p:sp>
      <p:pic>
        <p:nvPicPr>
          <p:cNvPr id="32" name="Picture 31"/>
          <p:cNvPicPr/>
          <p:nvPr/>
        </p:nvPicPr>
        <p:blipFill>
          <a:blip r:embed="rId7">
            <a:extLst>
              <a:ext uri="{28A0092B-C50C-407E-A947-70E740481C1C}">
                <a14:useLocalDpi xmlns:a14="http://schemas.microsoft.com/office/drawing/2010/main" val="0"/>
              </a:ext>
            </a:extLst>
          </a:blip>
          <a:srcRect/>
          <a:stretch>
            <a:fillRect/>
          </a:stretch>
        </p:blipFill>
        <p:spPr bwMode="auto">
          <a:xfrm>
            <a:off x="10819884" y="15727166"/>
            <a:ext cx="8180599" cy="3398965"/>
          </a:xfrm>
          <a:prstGeom prst="rect">
            <a:avLst/>
          </a:prstGeom>
          <a:noFill/>
          <a:ln>
            <a:noFill/>
          </a:ln>
        </p:spPr>
      </p:pic>
      <p:pic>
        <p:nvPicPr>
          <p:cNvPr id="8" name="Picture 7"/>
          <p:cNvPicPr>
            <a:picLocks noChangeAspect="1"/>
          </p:cNvPicPr>
          <p:nvPr/>
        </p:nvPicPr>
        <p:blipFill>
          <a:blip r:embed="rId8"/>
          <a:stretch>
            <a:fillRect/>
          </a:stretch>
        </p:blipFill>
        <p:spPr>
          <a:xfrm>
            <a:off x="10891089" y="12150194"/>
            <a:ext cx="8335901" cy="3244101"/>
          </a:xfrm>
          <a:prstGeom prst="rect">
            <a:avLst/>
          </a:prstGeom>
        </p:spPr>
      </p:pic>
      <p:sp>
        <p:nvSpPr>
          <p:cNvPr id="30" name="Rectangle 29"/>
          <p:cNvSpPr/>
          <p:nvPr/>
        </p:nvSpPr>
        <p:spPr>
          <a:xfrm>
            <a:off x="10738745" y="19375638"/>
            <a:ext cx="8342876" cy="1662566"/>
          </a:xfrm>
          <a:prstGeom prst="rect">
            <a:avLst/>
          </a:prstGeom>
          <a:noFill/>
          <a:ln w="19050" cmpd="sng">
            <a:solidFill>
              <a:schemeClr val="accent1">
                <a:shade val="50000"/>
              </a:schemeClr>
            </a:solid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673" tIns="32337" rIns="64673" bIns="32337" numCol="1" spcCol="0" rtlCol="0" fromWordArt="0" anchor="ctr" anchorCtr="0" forceAA="0" compatLnSpc="1">
            <a:prstTxWarp prst="textNoShape">
              <a:avLst/>
            </a:prstTxWarp>
            <a:noAutofit/>
          </a:bodyPr>
          <a:lstStyle/>
          <a:p>
            <a:pPr algn="ctr"/>
            <a:endParaRPr lang="en-US" sz="5813"/>
          </a:p>
        </p:txBody>
      </p:sp>
      <p:sp>
        <p:nvSpPr>
          <p:cNvPr id="9" name="Rectangle 8"/>
          <p:cNvSpPr/>
          <p:nvPr/>
        </p:nvSpPr>
        <p:spPr>
          <a:xfrm>
            <a:off x="10891089" y="19567964"/>
            <a:ext cx="8422690" cy="1277914"/>
          </a:xfrm>
          <a:prstGeom prst="rect">
            <a:avLst/>
          </a:prstGeom>
        </p:spPr>
        <p:txBody>
          <a:bodyPr wrap="none">
            <a:spAutoFit/>
          </a:bodyPr>
          <a:lstStyle/>
          <a:p>
            <a:pPr>
              <a:lnSpc>
                <a:spcPct val="107000"/>
              </a:lnSpc>
              <a:spcAft>
                <a:spcPts val="800"/>
              </a:spcAft>
            </a:pPr>
            <a:r>
              <a:rPr lang="en-US" sz="7200" dirty="0">
                <a:latin typeface="Arial Black" panose="020B0A04020102020204" pitchFamily="34" charset="0"/>
                <a:ea typeface="Calibri" panose="020F0502020204030204" pitchFamily="34" charset="0"/>
                <a:cs typeface="Arial" panose="020B0604020202020204" pitchFamily="34" charset="0"/>
              </a:rPr>
              <a:t>Protein </a:t>
            </a:r>
            <a:r>
              <a:rPr lang="en-US" sz="7200" dirty="0" smtClean="0">
                <a:latin typeface="Arial Black" panose="020B0A04020102020204" pitchFamily="34" charset="0"/>
                <a:ea typeface="Calibri" panose="020F0502020204030204" pitchFamily="34" charset="0"/>
                <a:cs typeface="Arial" panose="020B0604020202020204" pitchFamily="34" charset="0"/>
              </a:rPr>
              <a:t>Analysis</a:t>
            </a:r>
            <a:endParaRPr lang="en-US" sz="7200" dirty="0">
              <a:effectLst/>
              <a:latin typeface="Arial Black" panose="020B0A04020102020204" pitchFamily="34" charset="0"/>
              <a:ea typeface="Calibri" panose="020F0502020204030204" pitchFamily="34" charset="0"/>
              <a:cs typeface="Arial" panose="020B0604020202020204" pitchFamily="34" charset="0"/>
            </a:endParaRPr>
          </a:p>
        </p:txBody>
      </p:sp>
      <p:pic>
        <p:nvPicPr>
          <p:cNvPr id="10" name="Picture 9"/>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0761539" y="21162288"/>
            <a:ext cx="8266687" cy="3264324"/>
          </a:xfrm>
          <a:prstGeom prst="rect">
            <a:avLst/>
          </a:prstGeom>
        </p:spPr>
      </p:pic>
      <p:pic>
        <p:nvPicPr>
          <p:cNvPr id="12" name="Picture 11"/>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0849045" y="24869042"/>
            <a:ext cx="8317765" cy="3886059"/>
          </a:xfrm>
          <a:prstGeom prst="rect">
            <a:avLst/>
          </a:prstGeom>
        </p:spPr>
      </p:pic>
      <p:sp>
        <p:nvSpPr>
          <p:cNvPr id="22" name="Rectangle 21"/>
          <p:cNvSpPr/>
          <p:nvPr/>
        </p:nvSpPr>
        <p:spPr>
          <a:xfrm>
            <a:off x="10635186" y="29586842"/>
            <a:ext cx="8446435" cy="1169551"/>
          </a:xfrm>
          <a:prstGeom prst="rect">
            <a:avLst/>
          </a:prstGeom>
        </p:spPr>
        <p:txBody>
          <a:bodyPr wrap="square">
            <a:spAutoFit/>
          </a:bodyPr>
          <a:lstStyle/>
          <a:p>
            <a:pPr marL="342900" lvl="0" indent="-342900">
              <a:buSzPts val="1000"/>
              <a:buFont typeface="Symbol" panose="05050102010706020507" pitchFamily="18" charset="2"/>
              <a:buChar char=""/>
              <a:tabLst>
                <a:tab pos="457200" algn="l"/>
              </a:tabLst>
            </a:pPr>
            <a:r>
              <a:rPr lang="en-US" sz="1400" dirty="0" smtClean="0">
                <a:latin typeface="Arial Black" panose="020B0A04020102020204" pitchFamily="34" charset="0"/>
                <a:ea typeface="Times New Roman" panose="02020603050405020304" pitchFamily="18" charset="0"/>
              </a:rPr>
              <a:t>Predicted Functions</a:t>
            </a:r>
          </a:p>
          <a:p>
            <a:pPr marL="342900" lvl="0" indent="-342900">
              <a:buSzPts val="1000"/>
              <a:buFont typeface="Symbol" panose="05050102010706020507" pitchFamily="18" charset="2"/>
              <a:buChar char=""/>
              <a:tabLst>
                <a:tab pos="457200" algn="l"/>
              </a:tabLst>
            </a:pPr>
            <a:r>
              <a:rPr lang="en-US" sz="1400" dirty="0" smtClean="0">
                <a:latin typeface="Symbol" panose="05050102010706020507" pitchFamily="18" charset="2"/>
                <a:ea typeface="Times New Roman" panose="02020603050405020304" pitchFamily="18" charset="0"/>
              </a:rPr>
              <a:t>·</a:t>
            </a:r>
            <a:r>
              <a:rPr lang="en-US" sz="1400" dirty="0" smtClean="0">
                <a:latin typeface="Times New Roman" panose="02020603050405020304" pitchFamily="18" charset="0"/>
                <a:ea typeface="Times New Roman" panose="02020603050405020304" pitchFamily="18" charset="0"/>
              </a:rPr>
              <a:t>  </a:t>
            </a:r>
            <a:r>
              <a:rPr lang="en-US" sz="1400" dirty="0">
                <a:latin typeface="Times New Roman" panose="02020603050405020304" pitchFamily="18" charset="0"/>
                <a:ea typeface="Times New Roman" panose="02020603050405020304" pitchFamily="18" charset="0"/>
              </a:rPr>
              <a:t>The protein contains extensive </a:t>
            </a:r>
            <a:r>
              <a:rPr lang="en-US" sz="1400" b="1" dirty="0">
                <a:latin typeface="Times New Roman" panose="02020603050405020304" pitchFamily="18" charset="0"/>
                <a:ea typeface="Times New Roman" panose="02020603050405020304" pitchFamily="18" charset="0"/>
              </a:rPr>
              <a:t>intrinsically disordered and low-complexity regions</a:t>
            </a:r>
            <a:r>
              <a:rPr lang="en-US" sz="1400" dirty="0">
                <a:latin typeface="Times New Roman" panose="02020603050405020304" pitchFamily="18" charset="0"/>
                <a:ea typeface="Times New Roman" panose="02020603050405020304" pitchFamily="18" charset="0"/>
              </a:rPr>
              <a:t>, indicating a non-enzymatic, regulatory role rather than catalytic activity.</a:t>
            </a:r>
          </a:p>
          <a:p>
            <a:pPr marL="342900" marR="0" lvl="0" indent="-342900">
              <a:buSzPts val="1000"/>
              <a:buFont typeface="Symbol" panose="05050102010706020507" pitchFamily="18" charset="2"/>
              <a:buChar char=""/>
              <a:tabLst>
                <a:tab pos="457200" algn="l"/>
              </a:tabLst>
            </a:pPr>
            <a:r>
              <a:rPr lang="en-US" sz="1400" dirty="0">
                <a:latin typeface="Symbol" panose="05050102010706020507" pitchFamily="18" charset="2"/>
                <a:ea typeface="Times New Roman" panose="02020603050405020304" pitchFamily="18" charset="0"/>
              </a:rPr>
              <a:t>·</a:t>
            </a:r>
            <a:r>
              <a:rPr lang="en-US" sz="1400" dirty="0">
                <a:latin typeface="Times New Roman" panose="02020603050405020304" pitchFamily="18" charset="0"/>
                <a:ea typeface="Times New Roman" panose="02020603050405020304" pitchFamily="18" charset="0"/>
              </a:rPr>
              <a:t>  </a:t>
            </a:r>
            <a:r>
              <a:rPr lang="en-US" sz="1400" b="1" dirty="0">
                <a:latin typeface="Times New Roman" panose="02020603050405020304" pitchFamily="18" charset="0"/>
                <a:ea typeface="Times New Roman" panose="02020603050405020304" pitchFamily="18" charset="0"/>
              </a:rPr>
              <a:t>Compositionally biased motifs</a:t>
            </a:r>
            <a:r>
              <a:rPr lang="en-US" sz="1400" dirty="0">
                <a:latin typeface="Times New Roman" panose="02020603050405020304" pitchFamily="18" charset="0"/>
                <a:ea typeface="Times New Roman" panose="02020603050405020304" pitchFamily="18" charset="0"/>
              </a:rPr>
              <a:t> (</a:t>
            </a:r>
            <a:r>
              <a:rPr lang="en-US" sz="1400" dirty="0" err="1">
                <a:latin typeface="Times New Roman" panose="02020603050405020304" pitchFamily="18" charset="0"/>
                <a:ea typeface="Times New Roman" panose="02020603050405020304" pitchFamily="18" charset="0"/>
              </a:rPr>
              <a:t>proline</a:t>
            </a:r>
            <a:r>
              <a:rPr lang="en-US" sz="1400" dirty="0">
                <a:latin typeface="Times New Roman" panose="02020603050405020304" pitchFamily="18" charset="0"/>
                <a:ea typeface="Times New Roman" panose="02020603050405020304" pitchFamily="18" charset="0"/>
              </a:rPr>
              <a:t>-rich and acidic/basic regions) suggest involvement in </a:t>
            </a:r>
            <a:r>
              <a:rPr lang="en-US" sz="1400" b="1" dirty="0">
                <a:latin typeface="Times New Roman" panose="02020603050405020304" pitchFamily="18" charset="0"/>
                <a:ea typeface="Times New Roman" panose="02020603050405020304" pitchFamily="18" charset="0"/>
              </a:rPr>
              <a:t>protein–protein and </a:t>
            </a:r>
            <a:r>
              <a:rPr lang="en-US" sz="1400" b="1" dirty="0" smtClean="0">
                <a:latin typeface="Times New Roman" panose="02020603050405020304" pitchFamily="18" charset="0"/>
                <a:ea typeface="Times New Roman" panose="02020603050405020304" pitchFamily="18" charset="0"/>
              </a:rPr>
              <a:t>RNA associated </a:t>
            </a:r>
            <a:r>
              <a:rPr lang="en-US" sz="1400" b="1" dirty="0">
                <a:latin typeface="Times New Roman" panose="02020603050405020304" pitchFamily="18" charset="0"/>
                <a:ea typeface="Times New Roman" panose="02020603050405020304" pitchFamily="18" charset="0"/>
              </a:rPr>
              <a:t>interactions</a:t>
            </a:r>
            <a:r>
              <a:rPr lang="en-US" sz="1400" dirty="0">
                <a:latin typeface="Times New Roman" panose="02020603050405020304" pitchFamily="18" charset="0"/>
                <a:ea typeface="Times New Roman" panose="02020603050405020304" pitchFamily="18" charset="0"/>
              </a:rPr>
              <a:t>.</a:t>
            </a:r>
            <a:endParaRPr lang="en-US" sz="1400" dirty="0">
              <a:effectLst/>
              <a:latin typeface="Times New Roman" panose="02020603050405020304" pitchFamily="18" charset="0"/>
              <a:ea typeface="Times New Roman" panose="02020603050405020304" pitchFamily="18" charset="0"/>
            </a:endParaRPr>
          </a:p>
        </p:txBody>
      </p:sp>
      <p:sp>
        <p:nvSpPr>
          <p:cNvPr id="33" name="Rectangle 32"/>
          <p:cNvSpPr/>
          <p:nvPr/>
        </p:nvSpPr>
        <p:spPr>
          <a:xfrm>
            <a:off x="709005" y="27168119"/>
            <a:ext cx="8342876" cy="2961747"/>
          </a:xfrm>
          <a:prstGeom prst="rect">
            <a:avLst/>
          </a:prstGeom>
          <a:noFill/>
          <a:ln w="19050" cmpd="sng">
            <a:solidFill>
              <a:schemeClr val="accent1">
                <a:shade val="50000"/>
              </a:schemeClr>
            </a:solid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673" tIns="32337" rIns="64673" bIns="32337" numCol="1" spcCol="0" rtlCol="0" fromWordArt="0" anchor="ctr" anchorCtr="0" forceAA="0" compatLnSpc="1">
            <a:prstTxWarp prst="textNoShape">
              <a:avLst/>
            </a:prstTxWarp>
            <a:noAutofit/>
          </a:bodyPr>
          <a:lstStyle/>
          <a:p>
            <a:pPr algn="ctr"/>
            <a:endParaRPr lang="en-US" sz="5813"/>
          </a:p>
        </p:txBody>
      </p:sp>
      <p:sp>
        <p:nvSpPr>
          <p:cNvPr id="25" name="Rectangle 24"/>
          <p:cNvSpPr/>
          <p:nvPr/>
        </p:nvSpPr>
        <p:spPr>
          <a:xfrm>
            <a:off x="1242334" y="27548067"/>
            <a:ext cx="6158994" cy="2428357"/>
          </a:xfrm>
          <a:prstGeom prst="rect">
            <a:avLst/>
          </a:prstGeom>
        </p:spPr>
        <p:txBody>
          <a:bodyPr wrap="none">
            <a:spAutoFit/>
          </a:bodyPr>
          <a:lstStyle/>
          <a:p>
            <a:pPr marL="342900" marR="0" lvl="0" indent="-342900" algn="ctr">
              <a:lnSpc>
                <a:spcPct val="115000"/>
              </a:lnSpc>
              <a:spcBef>
                <a:spcPts val="0"/>
              </a:spcBef>
              <a:spcAft>
                <a:spcPts val="0"/>
              </a:spcAft>
              <a:buSzPts val="1000"/>
              <a:buFont typeface="Symbol" panose="05050102010706020507" pitchFamily="18" charset="2"/>
              <a:buChar char=""/>
              <a:tabLst>
                <a:tab pos="457200" algn="l"/>
              </a:tabLst>
            </a:pPr>
            <a:r>
              <a:rPr lang="en-US" sz="6600" kern="100" dirty="0" smtClean="0">
                <a:latin typeface="Arial Black" panose="020B0A04020102020204" pitchFamily="34" charset="0"/>
                <a:ea typeface="等线"/>
                <a:cs typeface="Arial" panose="020B0604020202020204" pitchFamily="34" charset="0"/>
              </a:rPr>
              <a:t>Subcellular</a:t>
            </a:r>
            <a:br>
              <a:rPr lang="en-US" sz="6600" kern="100" dirty="0" smtClean="0">
                <a:latin typeface="Arial Black" panose="020B0A04020102020204" pitchFamily="34" charset="0"/>
                <a:ea typeface="等线"/>
                <a:cs typeface="Arial" panose="020B0604020202020204" pitchFamily="34" charset="0"/>
              </a:rPr>
            </a:br>
            <a:r>
              <a:rPr lang="en-US" sz="6600" kern="100" dirty="0" smtClean="0">
                <a:latin typeface="Arial Black" panose="020B0A04020102020204" pitchFamily="34" charset="0"/>
                <a:ea typeface="等线"/>
                <a:cs typeface="Arial" panose="020B0604020202020204" pitchFamily="34" charset="0"/>
              </a:rPr>
              <a:t> </a:t>
            </a:r>
            <a:r>
              <a:rPr lang="en-US" sz="6600" kern="100" dirty="0">
                <a:latin typeface="Arial Black" panose="020B0A04020102020204" pitchFamily="34" charset="0"/>
                <a:ea typeface="等线"/>
                <a:cs typeface="Arial" panose="020B0604020202020204" pitchFamily="34" charset="0"/>
              </a:rPr>
              <a:t>localization</a:t>
            </a:r>
            <a:endParaRPr lang="en-US" sz="6600" kern="100" dirty="0">
              <a:effectLst/>
              <a:latin typeface="Arial Black" panose="020B0A04020102020204" pitchFamily="34" charset="0"/>
              <a:ea typeface="等线"/>
              <a:cs typeface="Arial" panose="020B0604020202020204" pitchFamily="34" charset="0"/>
            </a:endParaRPr>
          </a:p>
        </p:txBody>
      </p:sp>
      <p:pic>
        <p:nvPicPr>
          <p:cNvPr id="34" name="Picture 33"/>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812521" y="30238863"/>
            <a:ext cx="8239360" cy="4807929"/>
          </a:xfrm>
          <a:prstGeom prst="rect">
            <a:avLst/>
          </a:prstGeom>
        </p:spPr>
      </p:pic>
      <p:sp>
        <p:nvSpPr>
          <p:cNvPr id="35" name="Rectangle 34"/>
          <p:cNvSpPr/>
          <p:nvPr/>
        </p:nvSpPr>
        <p:spPr>
          <a:xfrm>
            <a:off x="812521" y="35103125"/>
            <a:ext cx="8332334" cy="4845557"/>
          </a:xfrm>
          <a:prstGeom prst="rect">
            <a:avLst/>
          </a:prstGeom>
        </p:spPr>
        <p:txBody>
          <a:bodyPr wrap="square">
            <a:spAutoFit/>
          </a:bodyPr>
          <a:lstStyle/>
          <a:p>
            <a:pPr>
              <a:lnSpc>
                <a:spcPct val="107000"/>
              </a:lnSpc>
              <a:spcAft>
                <a:spcPts val="800"/>
              </a:spcAft>
            </a:pPr>
            <a:r>
              <a:rPr lang="en-US" sz="1800" b="1" dirty="0">
                <a:latin typeface="Times New Roman" panose="02020603050405020304" pitchFamily="18" charset="0"/>
                <a:ea typeface="Times New Roman" panose="02020603050405020304" pitchFamily="18" charset="0"/>
                <a:cs typeface="Arial" panose="020B0604020202020204" pitchFamily="34" charset="0"/>
              </a:rPr>
              <a:t>Localization Prediction (2 Tools)</a:t>
            </a:r>
            <a:endParaRPr lang="en-US" sz="1800" dirty="0">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800" b="1" dirty="0" err="1">
                <a:latin typeface="Times New Roman" panose="02020603050405020304" pitchFamily="18" charset="0"/>
                <a:ea typeface="Times New Roman" panose="02020603050405020304" pitchFamily="18" charset="0"/>
                <a:cs typeface="Arial" panose="020B0604020202020204" pitchFamily="34" charset="0"/>
              </a:rPr>
              <a:t>DeepLoc</a:t>
            </a:r>
            <a:r>
              <a:rPr lang="en-US" sz="1800" b="1" dirty="0">
                <a:latin typeface="Times New Roman" panose="02020603050405020304" pitchFamily="18" charset="0"/>
                <a:ea typeface="Times New Roman" panose="02020603050405020304" pitchFamily="18" charset="0"/>
                <a:cs typeface="Arial" panose="020B0604020202020204" pitchFamily="34" charset="0"/>
              </a:rPr>
              <a:t> 2.0</a:t>
            </a:r>
            <a:r>
              <a:rPr lang="en-US" sz="1800" dirty="0">
                <a:latin typeface="Times New Roman" panose="02020603050405020304" pitchFamily="18" charset="0"/>
                <a:ea typeface="Times New Roman" panose="02020603050405020304" pitchFamily="18" charset="0"/>
                <a:cs typeface="Arial" panose="020B0604020202020204" pitchFamily="34" charset="0"/>
              </a:rPr>
              <a:t> predicted the protein to be localized predominantly in the </a:t>
            </a:r>
            <a:r>
              <a:rPr lang="en-US" sz="1800" b="1" dirty="0">
                <a:latin typeface="Times New Roman" panose="02020603050405020304" pitchFamily="18" charset="0"/>
                <a:ea typeface="Times New Roman" panose="02020603050405020304" pitchFamily="18" charset="0"/>
                <a:cs typeface="Arial" panose="020B0604020202020204" pitchFamily="34" charset="0"/>
              </a:rPr>
              <a:t>cytosol</a:t>
            </a:r>
            <a:r>
              <a:rPr lang="en-US" sz="1800" dirty="0">
                <a:latin typeface="Times New Roman" panose="02020603050405020304" pitchFamily="18" charset="0"/>
                <a:ea typeface="Times New Roman" panose="02020603050405020304" pitchFamily="18" charset="0"/>
                <a:cs typeface="Arial" panose="020B0604020202020204" pitchFamily="34" charset="0"/>
              </a:rPr>
              <a:t>, with a secondary probability for </a:t>
            </a:r>
            <a:r>
              <a:rPr lang="en-US" sz="1800" b="1" dirty="0">
                <a:latin typeface="Times New Roman" panose="02020603050405020304" pitchFamily="18" charset="0"/>
                <a:ea typeface="Times New Roman" panose="02020603050405020304" pitchFamily="18" charset="0"/>
                <a:cs typeface="Arial" panose="020B0604020202020204" pitchFamily="34" charset="0"/>
              </a:rPr>
              <a:t>nuclear localization</a:t>
            </a:r>
            <a:r>
              <a:rPr lang="en-US" sz="1800" dirty="0">
                <a:latin typeface="Times New Roman" panose="02020603050405020304" pitchFamily="18" charset="0"/>
                <a:ea typeface="Times New Roman" panose="02020603050405020304" pitchFamily="18" charset="0"/>
                <a:cs typeface="Arial" panose="020B0604020202020204" pitchFamily="34" charset="0"/>
              </a:rPr>
              <a:t>. The prediction is consistent with the absence of signal peptides and </a:t>
            </a:r>
            <a:r>
              <a:rPr lang="en-US" sz="1800" dirty="0" err="1">
                <a:latin typeface="Times New Roman" panose="02020603050405020304" pitchFamily="18" charset="0"/>
                <a:ea typeface="Times New Roman" panose="02020603050405020304" pitchFamily="18" charset="0"/>
                <a:cs typeface="Arial" panose="020B0604020202020204" pitchFamily="34" charset="0"/>
              </a:rPr>
              <a:t>transmembrane</a:t>
            </a:r>
            <a:r>
              <a:rPr lang="en-US" sz="1800" dirty="0">
                <a:latin typeface="Times New Roman" panose="02020603050405020304" pitchFamily="18" charset="0"/>
                <a:ea typeface="Times New Roman" panose="02020603050405020304" pitchFamily="18" charset="0"/>
                <a:cs typeface="Arial" panose="020B0604020202020204" pitchFamily="34" charset="0"/>
              </a:rPr>
              <a:t> helices.</a:t>
            </a:r>
            <a:endParaRPr lang="en-US" sz="1800" dirty="0">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800" b="1" dirty="0" err="1">
                <a:latin typeface="Times New Roman" panose="02020603050405020304" pitchFamily="18" charset="0"/>
                <a:ea typeface="Times New Roman" panose="02020603050405020304" pitchFamily="18" charset="0"/>
                <a:cs typeface="Arial" panose="020B0604020202020204" pitchFamily="34" charset="0"/>
              </a:rPr>
              <a:t>WoLF</a:t>
            </a:r>
            <a:r>
              <a:rPr lang="en-US" sz="1800" b="1" dirty="0">
                <a:latin typeface="Times New Roman" panose="02020603050405020304" pitchFamily="18" charset="0"/>
                <a:ea typeface="Times New Roman" panose="02020603050405020304" pitchFamily="18" charset="0"/>
                <a:cs typeface="Arial" panose="020B0604020202020204" pitchFamily="34" charset="0"/>
              </a:rPr>
              <a:t> PSORT</a:t>
            </a:r>
            <a:r>
              <a:rPr lang="en-US" sz="1800" dirty="0">
                <a:latin typeface="Times New Roman" panose="02020603050405020304" pitchFamily="18" charset="0"/>
                <a:ea typeface="Times New Roman" panose="02020603050405020304" pitchFamily="18" charset="0"/>
                <a:cs typeface="Arial" panose="020B0604020202020204" pitchFamily="34" charset="0"/>
              </a:rPr>
              <a:t> classified the protein as </a:t>
            </a:r>
            <a:r>
              <a:rPr lang="en-US" sz="1800" b="1" dirty="0">
                <a:latin typeface="Times New Roman" panose="02020603050405020304" pitchFamily="18" charset="0"/>
                <a:ea typeface="Times New Roman" panose="02020603050405020304" pitchFamily="18" charset="0"/>
                <a:cs typeface="Arial" panose="020B0604020202020204" pitchFamily="34" charset="0"/>
              </a:rPr>
              <a:t>cytoplasmic/nuclear</a:t>
            </a:r>
            <a:r>
              <a:rPr lang="en-US" sz="1800" dirty="0">
                <a:latin typeface="Times New Roman" panose="02020603050405020304" pitchFamily="18" charset="0"/>
                <a:ea typeface="Times New Roman" panose="02020603050405020304" pitchFamily="18" charset="0"/>
                <a:cs typeface="Arial" panose="020B0604020202020204" pitchFamily="34" charset="0"/>
              </a:rPr>
              <a:t>, based on amino acid composition, lack of organelle-targeting sequences, and enrichment of disordered regions.</a:t>
            </a:r>
            <a:endParaRPr lang="en-US" sz="1800" dirty="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pPr>
            <a:r>
              <a:rPr lang="en-US" sz="1800" b="1" dirty="0">
                <a:latin typeface="Calibri" panose="020F0502020204030204" pitchFamily="34" charset="0"/>
                <a:ea typeface="Calibri" panose="020F0502020204030204" pitchFamily="34" charset="0"/>
                <a:cs typeface="Arial" panose="020B0604020202020204" pitchFamily="34" charset="0"/>
              </a:rPr>
              <a:t>Justification:</a:t>
            </a:r>
            <a:r>
              <a:rPr lang="en-US" sz="1800" dirty="0">
                <a:latin typeface="Calibri" panose="020F0502020204030204" pitchFamily="34" charset="0"/>
                <a:ea typeface="Calibri" panose="020F0502020204030204" pitchFamily="34" charset="0"/>
                <a:cs typeface="Arial" panose="020B0604020202020204" pitchFamily="34" charset="0"/>
              </a:rPr>
              <a:t/>
            </a:r>
            <a:br>
              <a:rPr lang="en-US" sz="1800" dirty="0">
                <a:latin typeface="Calibri" panose="020F0502020204030204" pitchFamily="34" charset="0"/>
                <a:ea typeface="Calibri" panose="020F0502020204030204" pitchFamily="34" charset="0"/>
                <a:cs typeface="Arial" panose="020B0604020202020204" pitchFamily="34" charset="0"/>
              </a:rPr>
            </a:br>
            <a:r>
              <a:rPr lang="en-US" sz="1800" dirty="0">
                <a:latin typeface="Calibri" panose="020F0502020204030204" pitchFamily="34" charset="0"/>
                <a:ea typeface="Calibri" panose="020F0502020204030204" pitchFamily="34" charset="0"/>
                <a:cs typeface="Arial" panose="020B0604020202020204" pitchFamily="34" charset="0"/>
              </a:rPr>
              <a:t>The protein lacks signal peptides, mitochondrial targeting sequences, and </a:t>
            </a:r>
            <a:r>
              <a:rPr lang="en-US" sz="1800" dirty="0" err="1">
                <a:latin typeface="Calibri" panose="020F0502020204030204" pitchFamily="34" charset="0"/>
                <a:ea typeface="Calibri" panose="020F0502020204030204" pitchFamily="34" charset="0"/>
                <a:cs typeface="Arial" panose="020B0604020202020204" pitchFamily="34" charset="0"/>
              </a:rPr>
              <a:t>transmembrane</a:t>
            </a:r>
            <a:r>
              <a:rPr lang="en-US" sz="1800" dirty="0">
                <a:latin typeface="Calibri" panose="020F0502020204030204" pitchFamily="34" charset="0"/>
                <a:ea typeface="Calibri" panose="020F0502020204030204" pitchFamily="34" charset="0"/>
                <a:cs typeface="Arial" panose="020B0604020202020204" pitchFamily="34" charset="0"/>
              </a:rPr>
              <a:t> domains, excluding localization to membranes or organelles such as mitochondria or chloroplasts. The presence of extensive intrinsically disordered regions supports a role in dynamic </a:t>
            </a:r>
            <a:r>
              <a:rPr lang="en-US" sz="1800" b="1" dirty="0">
                <a:latin typeface="Calibri" panose="020F0502020204030204" pitchFamily="34" charset="0"/>
                <a:ea typeface="Calibri" panose="020F0502020204030204" pitchFamily="34" charset="0"/>
                <a:cs typeface="Arial" panose="020B0604020202020204" pitchFamily="34" charset="0"/>
              </a:rPr>
              <a:t>RNA surveillance and protein–protein interactions</a:t>
            </a:r>
            <a:r>
              <a:rPr lang="en-US" sz="1800" dirty="0">
                <a:latin typeface="Calibri" panose="020F0502020204030204" pitchFamily="34" charset="0"/>
                <a:ea typeface="Calibri" panose="020F0502020204030204" pitchFamily="34" charset="0"/>
                <a:cs typeface="Arial" panose="020B0604020202020204" pitchFamily="34" charset="0"/>
              </a:rPr>
              <a:t>, which occur primarily in the cytoplasm and nucleus. This localization is consistent with the known function of SMG9-family proteins in the </a:t>
            </a:r>
            <a:r>
              <a:rPr lang="en-US" sz="1800" b="1" dirty="0">
                <a:latin typeface="Calibri" panose="020F0502020204030204" pitchFamily="34" charset="0"/>
                <a:ea typeface="Calibri" panose="020F0502020204030204" pitchFamily="34" charset="0"/>
                <a:cs typeface="Arial" panose="020B0604020202020204" pitchFamily="34" charset="0"/>
              </a:rPr>
              <a:t>nonsense-mediated mRNA decay (NMD) pathway</a:t>
            </a:r>
            <a:r>
              <a:rPr lang="en-US" sz="1800" dirty="0">
                <a:latin typeface="Calibri" panose="020F0502020204030204" pitchFamily="34" charset="0"/>
                <a:ea typeface="Calibri" panose="020F0502020204030204" pitchFamily="34" charset="0"/>
                <a:cs typeface="Arial" panose="020B0604020202020204" pitchFamily="34" charset="0"/>
              </a:rPr>
              <a:t>.</a:t>
            </a:r>
            <a:endParaRPr lang="en-US" sz="18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36" name="Rectangle 35"/>
          <p:cNvSpPr/>
          <p:nvPr/>
        </p:nvSpPr>
        <p:spPr>
          <a:xfrm>
            <a:off x="20480031" y="5036207"/>
            <a:ext cx="8342876" cy="2133154"/>
          </a:xfrm>
          <a:prstGeom prst="rect">
            <a:avLst/>
          </a:prstGeom>
          <a:noFill/>
          <a:ln w="19050" cmpd="sng">
            <a:solidFill>
              <a:schemeClr val="accent1">
                <a:shade val="50000"/>
              </a:schemeClr>
            </a:solid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673" tIns="32337" rIns="64673" bIns="32337" numCol="1" spcCol="0" rtlCol="0" fromWordArt="0" anchor="ctr" anchorCtr="0" forceAA="0" compatLnSpc="1">
            <a:prstTxWarp prst="textNoShape">
              <a:avLst/>
            </a:prstTxWarp>
            <a:noAutofit/>
          </a:bodyPr>
          <a:lstStyle/>
          <a:p>
            <a:pPr algn="ctr"/>
            <a:endParaRPr lang="en-US" sz="5813"/>
          </a:p>
        </p:txBody>
      </p:sp>
      <p:sp>
        <p:nvSpPr>
          <p:cNvPr id="38" name="Rectangle 37"/>
          <p:cNvSpPr/>
          <p:nvPr/>
        </p:nvSpPr>
        <p:spPr>
          <a:xfrm>
            <a:off x="21844338" y="5246840"/>
            <a:ext cx="5694188" cy="2123658"/>
          </a:xfrm>
          <a:prstGeom prst="rect">
            <a:avLst/>
          </a:prstGeom>
        </p:spPr>
        <p:txBody>
          <a:bodyPr wrap="none">
            <a:spAutoFit/>
          </a:bodyPr>
          <a:lstStyle/>
          <a:p>
            <a:pPr algn="ctr"/>
            <a:r>
              <a:rPr lang="en-US" sz="6600" b="1" dirty="0">
                <a:latin typeface="Aptos"/>
                <a:ea typeface="等线"/>
                <a:cs typeface="Arial" panose="020B0604020202020204" pitchFamily="34" charset="0"/>
              </a:rPr>
              <a:t>Phylogenetic </a:t>
            </a:r>
            <a:r>
              <a:rPr lang="en-US" sz="6600" b="1" dirty="0" smtClean="0">
                <a:latin typeface="Aptos"/>
                <a:ea typeface="等线"/>
                <a:cs typeface="Arial" panose="020B0604020202020204" pitchFamily="34" charset="0"/>
              </a:rPr>
              <a:t/>
            </a:r>
            <a:br>
              <a:rPr lang="en-US" sz="6600" b="1" dirty="0" smtClean="0">
                <a:latin typeface="Aptos"/>
                <a:ea typeface="等线"/>
                <a:cs typeface="Arial" panose="020B0604020202020204" pitchFamily="34" charset="0"/>
              </a:rPr>
            </a:br>
            <a:r>
              <a:rPr lang="en-US" sz="6600" b="1" dirty="0" smtClean="0">
                <a:latin typeface="Aptos"/>
                <a:ea typeface="等线"/>
                <a:cs typeface="Arial" panose="020B0604020202020204" pitchFamily="34" charset="0"/>
              </a:rPr>
              <a:t>Analysis</a:t>
            </a:r>
            <a:endParaRPr lang="en-US" sz="6600" dirty="0"/>
          </a:p>
        </p:txBody>
      </p:sp>
      <p:pic>
        <p:nvPicPr>
          <p:cNvPr id="39" name="Picture 38"/>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20480031" y="7370498"/>
            <a:ext cx="8109395" cy="3877591"/>
          </a:xfrm>
          <a:prstGeom prst="rect">
            <a:avLst/>
          </a:prstGeom>
        </p:spPr>
      </p:pic>
      <p:pic>
        <p:nvPicPr>
          <p:cNvPr id="40" name="Picture 39"/>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0586010" y="16589103"/>
            <a:ext cx="8109395" cy="3955886"/>
          </a:xfrm>
          <a:prstGeom prst="rect">
            <a:avLst/>
          </a:prstGeom>
        </p:spPr>
      </p:pic>
      <p:sp>
        <p:nvSpPr>
          <p:cNvPr id="41" name="Rectangle 40"/>
          <p:cNvSpPr/>
          <p:nvPr/>
        </p:nvSpPr>
        <p:spPr>
          <a:xfrm>
            <a:off x="20704009" y="11022451"/>
            <a:ext cx="8262950" cy="5566652"/>
          </a:xfrm>
          <a:prstGeom prst="rect">
            <a:avLst/>
          </a:prstGeom>
        </p:spPr>
        <p:txBody>
          <a:bodyPr wrap="square">
            <a:spAutoFit/>
          </a:bodyPr>
          <a:lstStyle/>
          <a:p>
            <a:pPr>
              <a:lnSpc>
                <a:spcPct val="107000"/>
              </a:lnSpc>
              <a:spcAft>
                <a:spcPts val="800"/>
              </a:spcAft>
            </a:pPr>
            <a:r>
              <a:rPr lang="en-US" sz="2000" dirty="0">
                <a:latin typeface="Times New Roman" panose="02020603050405020304" pitchFamily="18" charset="0"/>
                <a:ea typeface="Times New Roman" panose="02020603050405020304" pitchFamily="18" charset="0"/>
                <a:cs typeface="Arial" panose="020B0604020202020204" pitchFamily="34" charset="0"/>
              </a:rPr>
              <a:t>The phylogenetic tree was generated using </a:t>
            </a:r>
            <a:r>
              <a:rPr lang="en-US" sz="2000" b="1" dirty="0">
                <a:latin typeface="Times New Roman" panose="02020603050405020304" pitchFamily="18" charset="0"/>
                <a:ea typeface="Times New Roman" panose="02020603050405020304" pitchFamily="18" charset="0"/>
                <a:cs typeface="Arial" panose="020B0604020202020204" pitchFamily="34" charset="0"/>
              </a:rPr>
              <a:t>NCBI BLAST Tree View</a:t>
            </a:r>
            <a:r>
              <a:rPr lang="en-US" sz="2000" dirty="0">
                <a:latin typeface="Times New Roman" panose="02020603050405020304" pitchFamily="18" charset="0"/>
                <a:ea typeface="Times New Roman" panose="02020603050405020304" pitchFamily="18" charset="0"/>
                <a:cs typeface="Arial" panose="020B0604020202020204" pitchFamily="34" charset="0"/>
              </a:rPr>
              <a:t> based on pairwise sequence alignments of homologous </a:t>
            </a:r>
            <a:r>
              <a:rPr lang="en-US" sz="2000" b="1" dirty="0">
                <a:latin typeface="Times New Roman" panose="02020603050405020304" pitchFamily="18" charset="0"/>
                <a:ea typeface="Times New Roman" panose="02020603050405020304" pitchFamily="18" charset="0"/>
                <a:cs typeface="Arial" panose="020B0604020202020204" pitchFamily="34" charset="0"/>
              </a:rPr>
              <a:t>SMG9 (nonsense-mediated mRNA decay factor 9)</a:t>
            </a:r>
            <a:r>
              <a:rPr lang="en-US" sz="2000" dirty="0">
                <a:latin typeface="Times New Roman" panose="02020603050405020304" pitchFamily="18" charset="0"/>
                <a:ea typeface="Times New Roman" panose="02020603050405020304" pitchFamily="18" charset="0"/>
                <a:cs typeface="Arial" panose="020B0604020202020204" pitchFamily="34" charset="0"/>
              </a:rPr>
              <a:t> sequences from different species. The tree illustrates the </a:t>
            </a:r>
            <a:r>
              <a:rPr lang="en-US" sz="2000" b="1" dirty="0">
                <a:latin typeface="Times New Roman" panose="02020603050405020304" pitchFamily="18" charset="0"/>
                <a:ea typeface="Times New Roman" panose="02020603050405020304" pitchFamily="18" charset="0"/>
                <a:cs typeface="Arial" panose="020B0604020202020204" pitchFamily="34" charset="0"/>
              </a:rPr>
              <a:t>evolutionary relationships</a:t>
            </a:r>
            <a:r>
              <a:rPr lang="en-US" sz="2000" dirty="0">
                <a:latin typeface="Times New Roman" panose="02020603050405020304" pitchFamily="18" charset="0"/>
                <a:ea typeface="Times New Roman" panose="02020603050405020304" pitchFamily="18" charset="0"/>
                <a:cs typeface="Arial" panose="020B0604020202020204" pitchFamily="34" charset="0"/>
              </a:rPr>
              <a:t> among homologs by clustering sequences according to their similarity.</a:t>
            </a:r>
            <a:endParaRPr lang="en-US" sz="2000" dirty="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pPr>
            <a:r>
              <a:rPr lang="en-US" sz="2000" dirty="0">
                <a:latin typeface="Times New Roman" panose="02020603050405020304" pitchFamily="18" charset="0"/>
                <a:ea typeface="Times New Roman" panose="02020603050405020304" pitchFamily="18" charset="0"/>
                <a:cs typeface="Arial" panose="020B0604020202020204" pitchFamily="34" charset="0"/>
              </a:rPr>
              <a:t>Closely related species, particularly </a:t>
            </a:r>
            <a:r>
              <a:rPr lang="en-US" sz="2000" b="1" dirty="0">
                <a:latin typeface="Times New Roman" panose="02020603050405020304" pitchFamily="18" charset="0"/>
                <a:ea typeface="Times New Roman" panose="02020603050405020304" pitchFamily="18" charset="0"/>
                <a:cs typeface="Arial" panose="020B0604020202020204" pitchFamily="34" charset="0"/>
              </a:rPr>
              <a:t>avian species</a:t>
            </a:r>
            <a:r>
              <a:rPr lang="en-US" sz="2000" dirty="0">
                <a:latin typeface="Times New Roman" panose="02020603050405020304" pitchFamily="18" charset="0"/>
                <a:ea typeface="Times New Roman" panose="02020603050405020304" pitchFamily="18" charset="0"/>
                <a:cs typeface="Arial" panose="020B0604020202020204" pitchFamily="34" charset="0"/>
              </a:rPr>
              <a:t>, cluster together in well-defined branches, indicating a </a:t>
            </a:r>
            <a:r>
              <a:rPr lang="en-US" sz="2000" b="1" dirty="0">
                <a:latin typeface="Times New Roman" panose="02020603050405020304" pitchFamily="18" charset="0"/>
                <a:ea typeface="Times New Roman" panose="02020603050405020304" pitchFamily="18" charset="0"/>
                <a:cs typeface="Arial" panose="020B0604020202020204" pitchFamily="34" charset="0"/>
              </a:rPr>
              <a:t>high degree of sequence conservation</a:t>
            </a:r>
            <a:r>
              <a:rPr lang="en-US" sz="2000" dirty="0">
                <a:latin typeface="Times New Roman" panose="02020603050405020304" pitchFamily="18" charset="0"/>
                <a:ea typeface="Times New Roman" panose="02020603050405020304" pitchFamily="18" charset="0"/>
                <a:cs typeface="Arial" panose="020B0604020202020204" pitchFamily="34" charset="0"/>
              </a:rPr>
              <a:t> within this taxonomic group. This suggests that the SMG9 protein has maintained a similar structure and function during avian evolution. More distant branches represent homologs from other vertebrates, reflecting gradual divergence over evolutionary time.</a:t>
            </a:r>
            <a:endParaRPr lang="en-US" sz="2000" dirty="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pPr>
            <a:r>
              <a:rPr lang="en-US" sz="2000" dirty="0">
                <a:latin typeface="Times New Roman" panose="02020603050405020304" pitchFamily="18" charset="0"/>
                <a:ea typeface="Times New Roman" panose="02020603050405020304" pitchFamily="18" charset="0"/>
                <a:cs typeface="Arial" panose="020B0604020202020204" pitchFamily="34" charset="0"/>
              </a:rPr>
              <a:t>The query sequence (highlighted) clusters within the vertebrate clade, supporting its classification as a </a:t>
            </a:r>
            <a:r>
              <a:rPr lang="en-US" sz="2000" b="1" dirty="0">
                <a:latin typeface="Times New Roman" panose="02020603050405020304" pitchFamily="18" charset="0"/>
                <a:ea typeface="Times New Roman" panose="02020603050405020304" pitchFamily="18" charset="0"/>
                <a:cs typeface="Arial" panose="020B0604020202020204" pitchFamily="34" charset="0"/>
              </a:rPr>
              <a:t>conserved eukaryotic protein</a:t>
            </a:r>
            <a:r>
              <a:rPr lang="en-US" sz="2000" dirty="0">
                <a:latin typeface="Times New Roman" panose="02020603050405020304" pitchFamily="18" charset="0"/>
                <a:ea typeface="Times New Roman" panose="02020603050405020304" pitchFamily="18" charset="0"/>
                <a:cs typeface="Arial" panose="020B0604020202020204" pitchFamily="34" charset="0"/>
              </a:rPr>
              <a:t>. Overall, the tree demonstrates that SMG9 is </a:t>
            </a:r>
            <a:r>
              <a:rPr lang="en-US" sz="2000" b="1" dirty="0">
                <a:latin typeface="Times New Roman" panose="02020603050405020304" pitchFamily="18" charset="0"/>
                <a:ea typeface="Times New Roman" panose="02020603050405020304" pitchFamily="18" charset="0"/>
                <a:cs typeface="Arial" panose="020B0604020202020204" pitchFamily="34" charset="0"/>
              </a:rPr>
              <a:t>evolutionarily conserved</a:t>
            </a:r>
            <a:r>
              <a:rPr lang="en-US" sz="2000" dirty="0">
                <a:latin typeface="Times New Roman" panose="02020603050405020304" pitchFamily="18" charset="0"/>
                <a:ea typeface="Times New Roman" panose="02020603050405020304" pitchFamily="18" charset="0"/>
                <a:cs typeface="Arial" panose="020B0604020202020204" pitchFamily="34" charset="0"/>
              </a:rPr>
              <a:t>, consistent with its essential role in the </a:t>
            </a:r>
            <a:r>
              <a:rPr lang="en-US" sz="2000" b="1" dirty="0">
                <a:latin typeface="Times New Roman" panose="02020603050405020304" pitchFamily="18" charset="0"/>
                <a:ea typeface="Times New Roman" panose="02020603050405020304" pitchFamily="18" charset="0"/>
                <a:cs typeface="Arial" panose="020B0604020202020204" pitchFamily="34" charset="0"/>
              </a:rPr>
              <a:t>nonsense-mediated mRNA decay (NMD) pathway</a:t>
            </a:r>
            <a:r>
              <a:rPr lang="en-US" sz="2000" dirty="0">
                <a:latin typeface="Times New Roman" panose="02020603050405020304" pitchFamily="18" charset="0"/>
                <a:ea typeface="Times New Roman" panose="02020603050405020304" pitchFamily="18" charset="0"/>
                <a:cs typeface="Arial" panose="020B0604020202020204" pitchFamily="34" charset="0"/>
              </a:rPr>
              <a:t>, a fundamental cellular quality-control mechanism.</a:t>
            </a:r>
            <a:endParaRPr lang="en-US" sz="20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42" name="Rectangle 41"/>
          <p:cNvSpPr/>
          <p:nvPr/>
        </p:nvSpPr>
        <p:spPr>
          <a:xfrm>
            <a:off x="10849045" y="31502708"/>
            <a:ext cx="8114016" cy="2463495"/>
          </a:xfrm>
          <a:prstGeom prst="rect">
            <a:avLst/>
          </a:prstGeom>
        </p:spPr>
        <p:txBody>
          <a:bodyPr wrap="none">
            <a:spAutoFit/>
          </a:bodyPr>
          <a:lstStyle/>
          <a:p>
            <a:pPr algn="ctr">
              <a:lnSpc>
                <a:spcPct val="107000"/>
              </a:lnSpc>
              <a:spcAft>
                <a:spcPts val="800"/>
              </a:spcAft>
            </a:pPr>
            <a:r>
              <a:rPr lang="en-US" sz="7200" dirty="0" smtClean="0">
                <a:latin typeface="Arial Black" panose="020B0A04020102020204" pitchFamily="34" charset="0"/>
                <a:ea typeface="Calibri" panose="020F0502020204030204" pitchFamily="34" charset="0"/>
                <a:cs typeface="Arial" panose="020B0604020202020204" pitchFamily="34" charset="0"/>
              </a:rPr>
              <a:t>Protein-Protein </a:t>
            </a:r>
            <a:br>
              <a:rPr lang="en-US" sz="7200" dirty="0" smtClean="0">
                <a:latin typeface="Arial Black" panose="020B0A04020102020204" pitchFamily="34" charset="0"/>
                <a:ea typeface="Calibri" panose="020F0502020204030204" pitchFamily="34" charset="0"/>
                <a:cs typeface="Arial" panose="020B0604020202020204" pitchFamily="34" charset="0"/>
              </a:rPr>
            </a:br>
            <a:r>
              <a:rPr lang="en-US" sz="7200" dirty="0" smtClean="0">
                <a:latin typeface="Arial Black" panose="020B0A04020102020204" pitchFamily="34" charset="0"/>
                <a:ea typeface="Calibri" panose="020F0502020204030204" pitchFamily="34" charset="0"/>
                <a:cs typeface="Arial" panose="020B0604020202020204" pitchFamily="34" charset="0"/>
              </a:rPr>
              <a:t>Interactions</a:t>
            </a:r>
            <a:endParaRPr lang="en-US" sz="7200" dirty="0">
              <a:effectLst/>
              <a:latin typeface="Arial Black" panose="020B0A04020102020204" pitchFamily="34" charset="0"/>
              <a:ea typeface="Calibri" panose="020F0502020204030204" pitchFamily="34" charset="0"/>
              <a:cs typeface="Arial" panose="020B0604020202020204" pitchFamily="34" charset="0"/>
            </a:endParaRPr>
          </a:p>
        </p:txBody>
      </p:sp>
      <p:sp>
        <p:nvSpPr>
          <p:cNvPr id="43" name="Rectangle 42"/>
          <p:cNvSpPr/>
          <p:nvPr/>
        </p:nvSpPr>
        <p:spPr>
          <a:xfrm>
            <a:off x="10704993" y="31754655"/>
            <a:ext cx="8342876" cy="2211547"/>
          </a:xfrm>
          <a:prstGeom prst="rect">
            <a:avLst/>
          </a:prstGeom>
          <a:noFill/>
          <a:ln w="19050" cmpd="sng">
            <a:solidFill>
              <a:schemeClr val="accent1">
                <a:shade val="50000"/>
              </a:schemeClr>
            </a:solid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673" tIns="32337" rIns="64673" bIns="32337" numCol="1" spcCol="0" rtlCol="0" fromWordArt="0" anchor="ctr" anchorCtr="0" forceAA="0" compatLnSpc="1">
            <a:prstTxWarp prst="textNoShape">
              <a:avLst/>
            </a:prstTxWarp>
            <a:noAutofit/>
          </a:bodyPr>
          <a:lstStyle/>
          <a:p>
            <a:pPr algn="ctr"/>
            <a:endParaRPr lang="en-US" sz="5813"/>
          </a:p>
        </p:txBody>
      </p:sp>
      <p:pic>
        <p:nvPicPr>
          <p:cNvPr id="44" name="Picture 43"/>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10891089" y="33939474"/>
            <a:ext cx="8422690" cy="1977149"/>
          </a:xfrm>
          <a:prstGeom prst="rect">
            <a:avLst/>
          </a:prstGeom>
        </p:spPr>
      </p:pic>
      <p:sp>
        <p:nvSpPr>
          <p:cNvPr id="45" name="Rectangle 44"/>
          <p:cNvSpPr/>
          <p:nvPr/>
        </p:nvSpPr>
        <p:spPr>
          <a:xfrm>
            <a:off x="10849045" y="36211954"/>
            <a:ext cx="8179181" cy="3416320"/>
          </a:xfrm>
          <a:prstGeom prst="rect">
            <a:avLst/>
          </a:prstGeom>
        </p:spPr>
        <p:txBody>
          <a:bodyPr wrap="square">
            <a:spAutoFit/>
          </a:bodyPr>
          <a:lstStyle/>
          <a:p>
            <a:r>
              <a:rPr lang="en-US" sz="2000" dirty="0"/>
              <a:t>STRING network analysis reveals that the protein is strongly associated with core components of the </a:t>
            </a:r>
            <a:r>
              <a:rPr lang="en-US" sz="2000" b="1" dirty="0"/>
              <a:t>nonsense-mediated mRNA decay (NMD) pathway</a:t>
            </a:r>
            <a:r>
              <a:rPr lang="en-US" sz="2000" dirty="0"/>
              <a:t>, including SMG1, SMG5, SMG6, SMG7, UPF1, UPF2, and UPF3. Gene Ontology (GO) enrichment indicates significant involvement in </a:t>
            </a:r>
            <a:r>
              <a:rPr lang="en-US" sz="2000" b="1" dirty="0"/>
              <a:t>mRNA surveillance</a:t>
            </a:r>
            <a:r>
              <a:rPr lang="en-US" sz="2000" dirty="0"/>
              <a:t>, </a:t>
            </a:r>
            <a:r>
              <a:rPr lang="en-US" sz="2000" b="1" dirty="0"/>
              <a:t>RNA metabolic processes</a:t>
            </a:r>
            <a:r>
              <a:rPr lang="en-US" sz="2000" dirty="0"/>
              <a:t>, and </a:t>
            </a:r>
            <a:r>
              <a:rPr lang="en-US" sz="2000" b="1" dirty="0"/>
              <a:t>post-transcriptional gene regulation</a:t>
            </a:r>
            <a:r>
              <a:rPr lang="en-US" sz="2000" dirty="0"/>
              <a:t>. These interactions highlight the protein’s role as a regulatory factor coordinating the recognition and degradation of aberrant mRNAs containing premature stop codons. The dense connectivity within the NMD complex suggests functional cooperation rather than enzymatic activity, emphasizing its importance </a:t>
            </a:r>
            <a:r>
              <a:rPr lang="en-US" sz="1600" dirty="0"/>
              <a:t>in maintaining </a:t>
            </a:r>
            <a:r>
              <a:rPr lang="en-US" sz="1600" b="1" dirty="0"/>
              <a:t>mRNA quality control, </a:t>
            </a:r>
            <a:r>
              <a:rPr lang="en-US" sz="1600" b="1" dirty="0" err="1"/>
              <a:t>transcriptome</a:t>
            </a:r>
            <a:r>
              <a:rPr lang="en-US" sz="1600" b="1" dirty="0"/>
              <a:t> integrity, and cellular homeostasis</a:t>
            </a:r>
            <a:r>
              <a:rPr lang="en-US" sz="1600" dirty="0"/>
              <a:t>.</a:t>
            </a:r>
          </a:p>
        </p:txBody>
      </p:sp>
      <p:sp>
        <p:nvSpPr>
          <p:cNvPr id="46" name="Rectangle 45"/>
          <p:cNvSpPr/>
          <p:nvPr/>
        </p:nvSpPr>
        <p:spPr>
          <a:xfrm>
            <a:off x="20552057" y="20432063"/>
            <a:ext cx="8342876" cy="2211547"/>
          </a:xfrm>
          <a:prstGeom prst="rect">
            <a:avLst/>
          </a:prstGeom>
          <a:noFill/>
          <a:ln w="19050" cmpd="sng">
            <a:solidFill>
              <a:schemeClr val="accent1">
                <a:shade val="50000"/>
              </a:schemeClr>
            </a:solid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673" tIns="32337" rIns="64673" bIns="32337" numCol="1" spcCol="0" rtlCol="0" fromWordArt="0" anchor="ctr" anchorCtr="0" forceAA="0" compatLnSpc="1">
            <a:prstTxWarp prst="textNoShape">
              <a:avLst/>
            </a:prstTxWarp>
            <a:noAutofit/>
          </a:bodyPr>
          <a:lstStyle/>
          <a:p>
            <a:pPr algn="ctr"/>
            <a:endParaRPr lang="en-US" sz="5813"/>
          </a:p>
        </p:txBody>
      </p:sp>
      <p:sp>
        <p:nvSpPr>
          <p:cNvPr id="47" name="Rectangle 46"/>
          <p:cNvSpPr/>
          <p:nvPr/>
        </p:nvSpPr>
        <p:spPr>
          <a:xfrm>
            <a:off x="20458508" y="29325507"/>
            <a:ext cx="8342876" cy="2211547"/>
          </a:xfrm>
          <a:prstGeom prst="rect">
            <a:avLst/>
          </a:prstGeom>
          <a:noFill/>
          <a:ln w="19050" cmpd="sng">
            <a:solidFill>
              <a:schemeClr val="accent1">
                <a:shade val="50000"/>
              </a:schemeClr>
            </a:solid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673" tIns="32337" rIns="64673" bIns="32337" numCol="1" spcCol="0" rtlCol="0" fromWordArt="0" anchor="ctr" anchorCtr="0" forceAA="0" compatLnSpc="1">
            <a:prstTxWarp prst="textNoShape">
              <a:avLst/>
            </a:prstTxWarp>
            <a:noAutofit/>
          </a:bodyPr>
          <a:lstStyle/>
          <a:p>
            <a:pPr algn="ctr"/>
            <a:endParaRPr lang="en-US" sz="5813"/>
          </a:p>
        </p:txBody>
      </p:sp>
      <p:sp>
        <p:nvSpPr>
          <p:cNvPr id="48" name="Rectangle 47"/>
          <p:cNvSpPr/>
          <p:nvPr/>
        </p:nvSpPr>
        <p:spPr>
          <a:xfrm>
            <a:off x="21331670" y="20859348"/>
            <a:ext cx="7189789" cy="1356975"/>
          </a:xfrm>
          <a:prstGeom prst="rect">
            <a:avLst/>
          </a:prstGeom>
        </p:spPr>
        <p:txBody>
          <a:bodyPr wrap="none">
            <a:spAutoFit/>
          </a:bodyPr>
          <a:lstStyle/>
          <a:p>
            <a:r>
              <a:rPr lang="en-US" b="1" dirty="0">
                <a:latin typeface="Arial Black" panose="020B0A04020102020204" pitchFamily="34" charset="0"/>
              </a:rPr>
              <a:t>Conclusions</a:t>
            </a:r>
          </a:p>
        </p:txBody>
      </p:sp>
      <p:sp>
        <p:nvSpPr>
          <p:cNvPr id="49" name="Rectangle 48"/>
          <p:cNvSpPr/>
          <p:nvPr/>
        </p:nvSpPr>
        <p:spPr>
          <a:xfrm>
            <a:off x="21290613" y="29728963"/>
            <a:ext cx="6721712" cy="1356975"/>
          </a:xfrm>
          <a:prstGeom prst="rect">
            <a:avLst/>
          </a:prstGeom>
        </p:spPr>
        <p:txBody>
          <a:bodyPr wrap="none">
            <a:spAutoFit/>
          </a:bodyPr>
          <a:lstStyle/>
          <a:p>
            <a:r>
              <a:rPr lang="en-US" b="1" dirty="0">
                <a:latin typeface="Arial Black" panose="020B0A04020102020204" pitchFamily="34" charset="0"/>
              </a:rPr>
              <a:t>References</a:t>
            </a:r>
          </a:p>
        </p:txBody>
      </p:sp>
      <p:sp>
        <p:nvSpPr>
          <p:cNvPr id="50" name="Rectangle 49"/>
          <p:cNvSpPr/>
          <p:nvPr/>
        </p:nvSpPr>
        <p:spPr>
          <a:xfrm>
            <a:off x="20646936" y="22625771"/>
            <a:ext cx="8175972" cy="6555641"/>
          </a:xfrm>
          <a:prstGeom prst="rect">
            <a:avLst/>
          </a:prstGeom>
        </p:spPr>
        <p:txBody>
          <a:bodyPr wrap="square">
            <a:spAutoFit/>
          </a:bodyPr>
          <a:lstStyle/>
          <a:p>
            <a:r>
              <a:rPr lang="en-US" sz="2800" dirty="0"/>
              <a:t>This bioinformatics analysis demonstrates that the studied protein is a </a:t>
            </a:r>
            <a:r>
              <a:rPr lang="en-US" sz="2800" b="1" dirty="0"/>
              <a:t>highly conserved, non-enzymatic regulatory factor</a:t>
            </a:r>
            <a:r>
              <a:rPr lang="en-US" sz="2800" dirty="0"/>
              <a:t> involved in the </a:t>
            </a:r>
            <a:r>
              <a:rPr lang="en-US" sz="2800" b="1" dirty="0"/>
              <a:t>nonsense-mediated mRNA decay (NMD) pathway</a:t>
            </a:r>
            <a:r>
              <a:rPr lang="en-US" sz="2800" dirty="0"/>
              <a:t>. Sequence and domain analyses revealed extensive </a:t>
            </a:r>
            <a:r>
              <a:rPr lang="en-US" sz="2800" b="1" dirty="0"/>
              <a:t>intrinsically disordered regions</a:t>
            </a:r>
            <a:r>
              <a:rPr lang="en-US" sz="2800" dirty="0"/>
              <a:t>, supporting a role in flexible protein–protein and RNA interactions. Subcellular localization predictions indicate a </a:t>
            </a:r>
            <a:r>
              <a:rPr lang="en-US" sz="2800" b="1" dirty="0"/>
              <a:t>cytoplasmic and nuclear localization</a:t>
            </a:r>
            <a:r>
              <a:rPr lang="en-US" sz="2800" dirty="0"/>
              <a:t>, consistent with its function in mRNA surveillance. Phylogenetic analysis showed strong conservation across vertebrate species, highlighting its </a:t>
            </a:r>
            <a:r>
              <a:rPr lang="en-US" sz="2800" b="1" dirty="0"/>
              <a:t>evolutionary importance</a:t>
            </a:r>
            <a:r>
              <a:rPr lang="en-US" sz="2800" dirty="0"/>
              <a:t>. Interaction network analysis further confirmed its integration within the core NMD machinery, emphasizing its critical role in maintaining </a:t>
            </a:r>
            <a:r>
              <a:rPr lang="en-US" sz="2800" b="1" dirty="0"/>
              <a:t>mRNA quality control and cellular homeostasis</a:t>
            </a:r>
            <a:r>
              <a:rPr lang="en-US" sz="2800" dirty="0"/>
              <a:t>.</a:t>
            </a:r>
          </a:p>
        </p:txBody>
      </p:sp>
      <p:sp>
        <p:nvSpPr>
          <p:cNvPr id="51" name="Rectangle 2"/>
          <p:cNvSpPr>
            <a:spLocks noChangeArrowheads="1"/>
          </p:cNvSpPr>
          <p:nvPr/>
        </p:nvSpPr>
        <p:spPr bwMode="auto">
          <a:xfrm>
            <a:off x="20704009" y="32465979"/>
            <a:ext cx="7885417" cy="74174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800" b="0" i="0" u="none" strike="noStrike" cap="none" normalizeH="0" baseline="0" dirty="0" err="1" smtClean="0">
                <a:ln>
                  <a:noFill/>
                </a:ln>
                <a:solidFill>
                  <a:schemeClr val="tx1"/>
                </a:solidFill>
                <a:effectLst/>
                <a:latin typeface="Arial" panose="020B0604020202020204" pitchFamily="34" charset="0"/>
              </a:rPr>
              <a:t>UniProt</a:t>
            </a:r>
            <a:r>
              <a:rPr kumimoji="0" lang="en-US" sz="2800" b="0" i="0" u="none" strike="noStrike" cap="none" normalizeH="0" baseline="0" dirty="0" smtClean="0">
                <a:ln>
                  <a:noFill/>
                </a:ln>
                <a:solidFill>
                  <a:schemeClr val="tx1"/>
                </a:solidFill>
                <a:effectLst/>
                <a:latin typeface="Arial" panose="020B0604020202020204" pitchFamily="34" charset="0"/>
              </a:rPr>
              <a:t> Consortium. (2024). </a:t>
            </a:r>
            <a:r>
              <a:rPr kumimoji="0" lang="en-US" sz="2800" b="0" i="1" u="none" strike="noStrike" cap="none" normalizeH="0" baseline="0" dirty="0" err="1" smtClean="0">
                <a:ln>
                  <a:noFill/>
                </a:ln>
                <a:solidFill>
                  <a:schemeClr val="tx1"/>
                </a:solidFill>
                <a:effectLst/>
                <a:latin typeface="Arial" panose="020B0604020202020204" pitchFamily="34" charset="0"/>
              </a:rPr>
              <a:t>UniProt</a:t>
            </a:r>
            <a:r>
              <a:rPr kumimoji="0" lang="en-US" sz="2800" b="0" i="1" u="none" strike="noStrike" cap="none" normalizeH="0" baseline="0" dirty="0" smtClean="0">
                <a:ln>
                  <a:noFill/>
                </a:ln>
                <a:solidFill>
                  <a:schemeClr val="tx1"/>
                </a:solidFill>
                <a:effectLst/>
                <a:latin typeface="Arial" panose="020B0604020202020204" pitchFamily="34" charset="0"/>
              </a:rPr>
              <a:t>: the universal protein knowledgebase</a:t>
            </a:r>
            <a:r>
              <a:rPr kumimoji="0" lang="en-US" sz="2800" b="0" i="0" u="none" strike="noStrike" cap="none" normalizeH="0" baseline="0" dirty="0" smtClean="0">
                <a:ln>
                  <a:noFill/>
                </a:ln>
                <a:solidFill>
                  <a:schemeClr val="tx1"/>
                </a:solidFill>
                <a:effectLst/>
                <a:latin typeface="Arial" panose="020B0604020202020204" pitchFamily="34" charset="0"/>
              </a:rPr>
              <a:t>. Nucleic Acids Research, 52(D1), D735–D742.</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800" b="0" i="0" u="none" strike="noStrike" cap="none" normalizeH="0" baseline="0" dirty="0" smtClean="0">
                <a:ln>
                  <a:noFill/>
                </a:ln>
                <a:solidFill>
                  <a:schemeClr val="tx1"/>
                </a:solidFill>
                <a:effectLst/>
                <a:latin typeface="Arial" panose="020B0604020202020204" pitchFamily="34" charset="0"/>
              </a:rPr>
              <a:t>National Center for Biotechnology Information (NCBI). (2024). </a:t>
            </a:r>
            <a:r>
              <a:rPr kumimoji="0" lang="en-US" sz="2800" b="0" i="1" u="none" strike="noStrike" cap="none" normalizeH="0" baseline="0" dirty="0" smtClean="0">
                <a:ln>
                  <a:noFill/>
                </a:ln>
                <a:solidFill>
                  <a:schemeClr val="tx1"/>
                </a:solidFill>
                <a:effectLst/>
                <a:latin typeface="Arial" panose="020B0604020202020204" pitchFamily="34" charset="0"/>
              </a:rPr>
              <a:t>Gene and BLAST databases</a:t>
            </a:r>
            <a:r>
              <a:rPr kumimoji="0" lang="en-US" sz="2800" b="0" i="0" u="none" strike="noStrike" cap="none" normalizeH="0" baseline="0" dirty="0" smtClean="0">
                <a:ln>
                  <a:noFill/>
                </a:ln>
                <a:solidFill>
                  <a:schemeClr val="tx1"/>
                </a:solidFill>
                <a:effectLst/>
                <a:latin typeface="Arial" panose="020B0604020202020204" pitchFamily="34" charset="0"/>
              </a:rPr>
              <a:t>. U.S. National Library of Medicine.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800" b="0" i="0" u="none" strike="noStrike" cap="none" normalizeH="0" baseline="0" dirty="0" err="1" smtClean="0">
                <a:ln>
                  <a:noFill/>
                </a:ln>
                <a:solidFill>
                  <a:schemeClr val="tx1"/>
                </a:solidFill>
                <a:effectLst/>
                <a:latin typeface="Arial" panose="020B0604020202020204" pitchFamily="34" charset="0"/>
              </a:rPr>
              <a:t>Szklarczyk</a:t>
            </a:r>
            <a:r>
              <a:rPr kumimoji="0" lang="en-US" sz="2800" b="0" i="0" u="none" strike="noStrike" cap="none" normalizeH="0" baseline="0" dirty="0" smtClean="0">
                <a:ln>
                  <a:noFill/>
                </a:ln>
                <a:solidFill>
                  <a:schemeClr val="tx1"/>
                </a:solidFill>
                <a:effectLst/>
                <a:latin typeface="Arial" panose="020B0604020202020204" pitchFamily="34" charset="0"/>
              </a:rPr>
              <a:t>, D., et al. (2023). </a:t>
            </a:r>
            <a:r>
              <a:rPr kumimoji="0" lang="en-US" sz="2800" b="0" i="1" u="none" strike="noStrike" cap="none" normalizeH="0" baseline="0" dirty="0" smtClean="0">
                <a:ln>
                  <a:noFill/>
                </a:ln>
                <a:solidFill>
                  <a:schemeClr val="tx1"/>
                </a:solidFill>
                <a:effectLst/>
                <a:latin typeface="Arial" panose="020B0604020202020204" pitchFamily="34" charset="0"/>
              </a:rPr>
              <a:t>STRING v12: protein–protein association networks</a:t>
            </a:r>
            <a:r>
              <a:rPr kumimoji="0" lang="en-US" sz="2800" b="0" i="0" u="none" strike="noStrike" cap="none" normalizeH="0" baseline="0" dirty="0" smtClean="0">
                <a:ln>
                  <a:noFill/>
                </a:ln>
                <a:solidFill>
                  <a:schemeClr val="tx1"/>
                </a:solidFill>
                <a:effectLst/>
                <a:latin typeface="Arial" panose="020B0604020202020204" pitchFamily="34" charset="0"/>
              </a:rPr>
              <a:t>. Nucleic Acids Research, 51(D1), D638–D646.</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800" b="0" i="0" u="none" strike="noStrike" cap="none" normalizeH="0" baseline="0" dirty="0" err="1" smtClean="0">
                <a:ln>
                  <a:noFill/>
                </a:ln>
                <a:solidFill>
                  <a:schemeClr val="tx1"/>
                </a:solidFill>
                <a:effectLst/>
                <a:latin typeface="Arial" panose="020B0604020202020204" pitchFamily="34" charset="0"/>
              </a:rPr>
              <a:t>Almagro</a:t>
            </a:r>
            <a:r>
              <a:rPr kumimoji="0" lang="en-US" sz="2800" b="0" i="0" u="none" strike="noStrike" cap="none" normalizeH="0" baseline="0" dirty="0" smtClean="0">
                <a:ln>
                  <a:noFill/>
                </a:ln>
                <a:solidFill>
                  <a:schemeClr val="tx1"/>
                </a:solidFill>
                <a:effectLst/>
                <a:latin typeface="Arial" panose="020B0604020202020204" pitchFamily="34" charset="0"/>
              </a:rPr>
              <a:t> </a:t>
            </a:r>
            <a:r>
              <a:rPr kumimoji="0" lang="en-US" sz="2800" b="0" i="0" u="none" strike="noStrike" cap="none" normalizeH="0" baseline="0" dirty="0" err="1" smtClean="0">
                <a:ln>
                  <a:noFill/>
                </a:ln>
                <a:solidFill>
                  <a:schemeClr val="tx1"/>
                </a:solidFill>
                <a:effectLst/>
                <a:latin typeface="Arial" panose="020B0604020202020204" pitchFamily="34" charset="0"/>
              </a:rPr>
              <a:t>Armenteros</a:t>
            </a:r>
            <a:r>
              <a:rPr kumimoji="0" lang="en-US" sz="2800" b="0" i="0" u="none" strike="noStrike" cap="none" normalizeH="0" baseline="0" dirty="0" smtClean="0">
                <a:ln>
                  <a:noFill/>
                </a:ln>
                <a:solidFill>
                  <a:schemeClr val="tx1"/>
                </a:solidFill>
                <a:effectLst/>
                <a:latin typeface="Arial" panose="020B0604020202020204" pitchFamily="34" charset="0"/>
              </a:rPr>
              <a:t>, J. J., et al. (2017). </a:t>
            </a:r>
            <a:r>
              <a:rPr kumimoji="0" lang="en-US" sz="2800" b="0" i="1" u="none" strike="noStrike" cap="none" normalizeH="0" baseline="0" dirty="0" err="1" smtClean="0">
                <a:ln>
                  <a:noFill/>
                </a:ln>
                <a:solidFill>
                  <a:schemeClr val="tx1"/>
                </a:solidFill>
                <a:effectLst/>
                <a:latin typeface="Arial" panose="020B0604020202020204" pitchFamily="34" charset="0"/>
              </a:rPr>
              <a:t>DeepLoc</a:t>
            </a:r>
            <a:r>
              <a:rPr kumimoji="0" lang="en-US" sz="2800" b="0" i="1" u="none" strike="noStrike" cap="none" normalizeH="0" baseline="0" dirty="0" smtClean="0">
                <a:ln>
                  <a:noFill/>
                </a:ln>
                <a:solidFill>
                  <a:schemeClr val="tx1"/>
                </a:solidFill>
                <a:effectLst/>
                <a:latin typeface="Arial" panose="020B0604020202020204" pitchFamily="34" charset="0"/>
              </a:rPr>
              <a:t>: prediction of protein subcellular localization</a:t>
            </a:r>
            <a:r>
              <a:rPr kumimoji="0" lang="en-US" sz="2800" b="0" i="0" u="none" strike="noStrike" cap="none" normalizeH="0" baseline="0" dirty="0" smtClean="0">
                <a:ln>
                  <a:noFill/>
                </a:ln>
                <a:solidFill>
                  <a:schemeClr val="tx1"/>
                </a:solidFill>
                <a:effectLst/>
                <a:latin typeface="Arial" panose="020B0604020202020204" pitchFamily="34" charset="0"/>
              </a:rPr>
              <a:t>. Bioinformatics, 33(21), 3387–3395.</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800" b="0" i="0" u="none" strike="noStrike" cap="none" normalizeH="0" baseline="0" dirty="0" smtClean="0">
                <a:ln>
                  <a:noFill/>
                </a:ln>
                <a:solidFill>
                  <a:schemeClr val="tx1"/>
                </a:solidFill>
                <a:effectLst/>
                <a:latin typeface="Arial" panose="020B0604020202020204" pitchFamily="34" charset="0"/>
              </a:rPr>
              <a:t>Horton, P., et al. (2007). </a:t>
            </a:r>
            <a:r>
              <a:rPr kumimoji="0" lang="en-US" sz="2800" b="0" i="1" u="none" strike="noStrike" cap="none" normalizeH="0" baseline="0" dirty="0" err="1" smtClean="0">
                <a:ln>
                  <a:noFill/>
                </a:ln>
                <a:solidFill>
                  <a:schemeClr val="tx1"/>
                </a:solidFill>
                <a:effectLst/>
                <a:latin typeface="Arial" panose="020B0604020202020204" pitchFamily="34" charset="0"/>
              </a:rPr>
              <a:t>WoLF</a:t>
            </a:r>
            <a:r>
              <a:rPr kumimoji="0" lang="en-US" sz="2800" b="0" i="1" u="none" strike="noStrike" cap="none" normalizeH="0" baseline="0" dirty="0" smtClean="0">
                <a:ln>
                  <a:noFill/>
                </a:ln>
                <a:solidFill>
                  <a:schemeClr val="tx1"/>
                </a:solidFill>
                <a:effectLst/>
                <a:latin typeface="Arial" panose="020B0604020202020204" pitchFamily="34" charset="0"/>
              </a:rPr>
              <a:t> PSORT: protein localization predictor</a:t>
            </a:r>
            <a:r>
              <a:rPr kumimoji="0" lang="en-US" sz="2800" b="0" i="0" u="none" strike="noStrike" cap="none" normalizeH="0" baseline="0" dirty="0" smtClean="0">
                <a:ln>
                  <a:noFill/>
                </a:ln>
                <a:solidFill>
                  <a:schemeClr val="tx1"/>
                </a:solidFill>
                <a:effectLst/>
                <a:latin typeface="Arial" panose="020B0604020202020204" pitchFamily="34" charset="0"/>
              </a:rPr>
              <a:t>. Nucleic Acids Research, 35(Web Server issue), W585–W587.</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800" b="0" i="0" u="none" strike="noStrike" cap="none" normalizeH="0" baseline="0" dirty="0" err="1" smtClean="0">
                <a:ln>
                  <a:noFill/>
                </a:ln>
                <a:solidFill>
                  <a:schemeClr val="tx1"/>
                </a:solidFill>
                <a:effectLst/>
                <a:latin typeface="Arial" panose="020B0604020202020204" pitchFamily="34" charset="0"/>
              </a:rPr>
              <a:t>Sievers</a:t>
            </a:r>
            <a:r>
              <a:rPr kumimoji="0" lang="en-US" sz="2800" b="0" i="0" u="none" strike="noStrike" cap="none" normalizeH="0" baseline="0" dirty="0" smtClean="0">
                <a:ln>
                  <a:noFill/>
                </a:ln>
                <a:solidFill>
                  <a:schemeClr val="tx1"/>
                </a:solidFill>
                <a:effectLst/>
                <a:latin typeface="Arial" panose="020B0604020202020204" pitchFamily="34" charset="0"/>
              </a:rPr>
              <a:t>, F., et al. (2011). </a:t>
            </a:r>
            <a:r>
              <a:rPr kumimoji="0" lang="en-US" sz="2800" b="0" i="1" u="none" strike="noStrike" cap="none" normalizeH="0" baseline="0" dirty="0" err="1" smtClean="0">
                <a:ln>
                  <a:noFill/>
                </a:ln>
                <a:solidFill>
                  <a:schemeClr val="tx1"/>
                </a:solidFill>
                <a:effectLst/>
                <a:latin typeface="Arial" panose="020B0604020202020204" pitchFamily="34" charset="0"/>
              </a:rPr>
              <a:t>Clustal</a:t>
            </a:r>
            <a:r>
              <a:rPr kumimoji="0" lang="en-US" sz="2800" b="0" i="1" u="none" strike="noStrike" cap="none" normalizeH="0" baseline="0" dirty="0" smtClean="0">
                <a:ln>
                  <a:noFill/>
                </a:ln>
                <a:solidFill>
                  <a:schemeClr val="tx1"/>
                </a:solidFill>
                <a:effectLst/>
                <a:latin typeface="Arial" panose="020B0604020202020204" pitchFamily="34" charset="0"/>
              </a:rPr>
              <a:t> Omega for multiple sequence </a:t>
            </a:r>
            <a:r>
              <a:rPr kumimoji="0" lang="en-US" sz="1800" b="0" i="1" u="none" strike="noStrike" cap="none" normalizeH="0" baseline="0" dirty="0" smtClean="0">
                <a:ln>
                  <a:noFill/>
                </a:ln>
                <a:solidFill>
                  <a:schemeClr val="tx1"/>
                </a:solidFill>
                <a:effectLst/>
                <a:latin typeface="Arial" panose="020B0604020202020204" pitchFamily="34" charset="0"/>
              </a:rPr>
              <a:t>alignment</a:t>
            </a:r>
            <a:r>
              <a:rPr kumimoji="0" lang="en-US" sz="1800" b="0" i="0" u="none" strike="noStrike" cap="none" normalizeH="0" baseline="0" dirty="0" smtClean="0">
                <a:ln>
                  <a:noFill/>
                </a:ln>
                <a:solidFill>
                  <a:schemeClr val="tx1"/>
                </a:solidFill>
                <a:effectLst/>
                <a:latin typeface="Arial" panose="020B0604020202020204" pitchFamily="34" charset="0"/>
              </a:rPr>
              <a:t>. Molecular Systems Biology, 7, 539.</a:t>
            </a:r>
          </a:p>
        </p:txBody>
      </p:sp>
    </p:spTree>
    <p:extLst>
      <p:ext uri="{BB962C8B-B14F-4D97-AF65-F5344CB8AC3E}">
        <p14:creationId xmlns:p14="http://schemas.microsoft.com/office/powerpoint/2010/main" val="322196941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229</TotalTime>
  <Words>885</Words>
  <Application>Microsoft Office PowerPoint</Application>
  <PresentationFormat>Custom</PresentationFormat>
  <Paragraphs>48</Paragraphs>
  <Slides>1</Slides>
  <Notes>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vt:i4>
      </vt:variant>
    </vt:vector>
  </HeadingPairs>
  <TitlesOfParts>
    <vt:vector size="13" baseType="lpstr">
      <vt:lpstr>Arial Unicode MS</vt:lpstr>
      <vt:lpstr>Aptos</vt:lpstr>
      <vt:lpstr>Arial</vt:lpstr>
      <vt:lpstr>Arial Black</vt:lpstr>
      <vt:lpstr>Calibri</vt:lpstr>
      <vt:lpstr>Calibri Light</vt:lpstr>
      <vt:lpstr>Courier New</vt:lpstr>
      <vt:lpstr>Segoe UI Symbol</vt:lpstr>
      <vt:lpstr>Symbol</vt:lpstr>
      <vt:lpstr>Times New Roman</vt:lpstr>
      <vt:lpstr>等线</vt:lpstr>
      <vt:lpstr>Office Theme</vt:lpstr>
      <vt:lpstr>Computational analysis of the nonsense-mediated mRNA decay factor SMG9 Eraj Aijaz I Department of Biochemistry I Bioinformatics Project </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nonsense-mediated mRNA decay factor SMG9</dc:title>
  <dc:creator>Mooti</dc:creator>
  <cp:lastModifiedBy>Mooti</cp:lastModifiedBy>
  <cp:revision>28</cp:revision>
  <dcterms:created xsi:type="dcterms:W3CDTF">2025-12-22T16:19:55Z</dcterms:created>
  <dcterms:modified xsi:type="dcterms:W3CDTF">2025-12-23T06:49:49Z</dcterms:modified>
</cp:coreProperties>
</file>